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342" r:id="rId2"/>
    <p:sldId id="257" r:id="rId3"/>
    <p:sldId id="335" r:id="rId4"/>
    <p:sldId id="258" r:id="rId5"/>
    <p:sldId id="259" r:id="rId6"/>
    <p:sldId id="260" r:id="rId7"/>
    <p:sldId id="336" r:id="rId8"/>
    <p:sldId id="262" r:id="rId9"/>
    <p:sldId id="338" r:id="rId10"/>
    <p:sldId id="339" r:id="rId11"/>
    <p:sldId id="340" r:id="rId12"/>
    <p:sldId id="341" r:id="rId13"/>
    <p:sldId id="337" r:id="rId14"/>
    <p:sldId id="266" r:id="rId15"/>
    <p:sldId id="267" r:id="rId16"/>
    <p:sldId id="270" r:id="rId17"/>
    <p:sldId id="272" r:id="rId18"/>
    <p:sldId id="273" r:id="rId19"/>
    <p:sldId id="334" r:id="rId20"/>
    <p:sldId id="283" r:id="rId21"/>
    <p:sldId id="284" r:id="rId22"/>
    <p:sldId id="285" r:id="rId23"/>
    <p:sldId id="295" r:id="rId24"/>
    <p:sldId id="296" r:id="rId25"/>
    <p:sldId id="297" r:id="rId26"/>
    <p:sldId id="308" r:id="rId27"/>
    <p:sldId id="309" r:id="rId28"/>
    <p:sldId id="310" r:id="rId29"/>
    <p:sldId id="318" r:id="rId30"/>
    <p:sldId id="319" r:id="rId31"/>
    <p:sldId id="320" r:id="rId32"/>
    <p:sldId id="326" r:id="rId33"/>
    <p:sldId id="329" r:id="rId34"/>
    <p:sldId id="330" r:id="rId35"/>
    <p:sldId id="331" r:id="rId36"/>
    <p:sldId id="333" r:id="rId37"/>
  </p:sldIdLst>
  <p:sldSz cx="9144000" cy="5143500" type="screen16x9"/>
  <p:notesSz cx="6858000" cy="9144000"/>
  <p:embeddedFontLst>
    <p:embeddedFont>
      <p:font typeface="Hind" panose="02000000000000000000" pitchFamily="2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6" roundtripDataSignature="AMtx7mgvwqZNNZWXo0/rHVud8ktpd1K3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527C82-C28B-4583-A0BF-120FDDBACE64}">
  <a:tblStyle styleId="{44527C82-C28B-4583-A0BF-120FDDBACE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4BAD10-551B-4F2E-960F-0D8003075F0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90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8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8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0794312F-4A11-576D-4F38-0D7B6F05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>
            <a:extLst>
              <a:ext uri="{FF2B5EF4-FFF2-40B4-BE49-F238E27FC236}">
                <a16:creationId xmlns:a16="http://schemas.microsoft.com/office/drawing/2014/main" id="{8D8177B5-FAB1-E14C-A448-C7A229F70C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777B5438-D6AF-8935-DA27-570904734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5497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D67E7CA4-5FFB-0D41-1BC7-89448ADB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56EFE722-7278-5694-42A9-4D5DEBABCA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4C9262E1-4F0A-AF42-CF57-661F189B8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3668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BD233BDF-6AD8-5183-20D6-A0BE4306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>
            <a:extLst>
              <a:ext uri="{FF2B5EF4-FFF2-40B4-BE49-F238E27FC236}">
                <a16:creationId xmlns:a16="http://schemas.microsoft.com/office/drawing/2014/main" id="{292FE555-3A36-91C2-ED6E-BFAD7BCA0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9:notes">
            <a:extLst>
              <a:ext uri="{FF2B5EF4-FFF2-40B4-BE49-F238E27FC236}">
                <a16:creationId xmlns:a16="http://schemas.microsoft.com/office/drawing/2014/main" id="{C50BD470-D0B0-F72F-AFD6-B2E6C823E3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1584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9" name="Google Shape;61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6" name="Google Shape;646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1" name="Google Shape;721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8" name="Google Shape;728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1" name="Google Shape;751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2"/>
          <p:cNvSpPr txBox="1">
            <a:spLocks noGrp="1"/>
          </p:cNvSpPr>
          <p:nvPr>
            <p:ph type="ctrTitle"/>
          </p:nvPr>
        </p:nvSpPr>
        <p:spPr>
          <a:xfrm>
            <a:off x="2328150" y="1991825"/>
            <a:ext cx="4487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" name="Google Shape;11;p82"/>
          <p:cNvSpPr/>
          <p:nvPr/>
        </p:nvSpPr>
        <p:spPr>
          <a:xfrm rot="5400000" flipH="1">
            <a:off x="6177275" y="-42338"/>
            <a:ext cx="3688200" cy="22461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2"/>
          <p:cNvSpPr/>
          <p:nvPr/>
        </p:nvSpPr>
        <p:spPr>
          <a:xfrm rot="5400000" flipH="1">
            <a:off x="-698074" y="3247200"/>
            <a:ext cx="3573900" cy="21771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2"/>
          <p:cNvSpPr/>
          <p:nvPr/>
        </p:nvSpPr>
        <p:spPr>
          <a:xfrm rot="-5400000" flipH="1">
            <a:off x="-428544" y="2831032"/>
            <a:ext cx="2195100" cy="1338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2"/>
          <p:cNvSpPr/>
          <p:nvPr/>
        </p:nvSpPr>
        <p:spPr>
          <a:xfrm rot="-5400000" flipH="1">
            <a:off x="563748" y="2068298"/>
            <a:ext cx="1518900" cy="9255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2"/>
          <p:cNvSpPr/>
          <p:nvPr/>
        </p:nvSpPr>
        <p:spPr>
          <a:xfrm rot="5400000">
            <a:off x="-253698" y="2260564"/>
            <a:ext cx="1297200" cy="7899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2"/>
          <p:cNvSpPr/>
          <p:nvPr/>
        </p:nvSpPr>
        <p:spPr>
          <a:xfrm rot="-5400000">
            <a:off x="-192598" y="1950593"/>
            <a:ext cx="985800" cy="600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82"/>
          <p:cNvSpPr/>
          <p:nvPr/>
        </p:nvSpPr>
        <p:spPr>
          <a:xfrm rot="5400000" flipH="1">
            <a:off x="7217675" y="1270025"/>
            <a:ext cx="2394600" cy="14589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82"/>
          <p:cNvSpPr/>
          <p:nvPr/>
        </p:nvSpPr>
        <p:spPr>
          <a:xfrm rot="-5400000">
            <a:off x="7922499" y="2744289"/>
            <a:ext cx="1518600" cy="9255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82"/>
          <p:cNvSpPr/>
          <p:nvPr/>
        </p:nvSpPr>
        <p:spPr>
          <a:xfrm rot="-5400000" flipH="1">
            <a:off x="7315902" y="2802275"/>
            <a:ext cx="1027800" cy="6261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82"/>
          <p:cNvSpPr/>
          <p:nvPr/>
        </p:nvSpPr>
        <p:spPr>
          <a:xfrm rot="-5400000" flipH="1">
            <a:off x="6337825" y="578875"/>
            <a:ext cx="1520100" cy="9261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3"/>
          <p:cNvSpPr txBox="1">
            <a:spLocks noGrp="1"/>
          </p:cNvSpPr>
          <p:nvPr>
            <p:ph type="title"/>
          </p:nvPr>
        </p:nvSpPr>
        <p:spPr>
          <a:xfrm>
            <a:off x="1067088" y="912850"/>
            <a:ext cx="59721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3"/>
          <p:cNvSpPr txBox="1">
            <a:spLocks noGrp="1"/>
          </p:cNvSpPr>
          <p:nvPr>
            <p:ph type="body" idx="1"/>
          </p:nvPr>
        </p:nvSpPr>
        <p:spPr>
          <a:xfrm>
            <a:off x="1067100" y="1706950"/>
            <a:ext cx="2977800" cy="3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›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>
            <a:endParaRPr/>
          </a:p>
        </p:txBody>
      </p:sp>
      <p:sp>
        <p:nvSpPr>
          <p:cNvPr id="24" name="Google Shape;24;p83"/>
          <p:cNvSpPr txBox="1">
            <a:spLocks noGrp="1"/>
          </p:cNvSpPr>
          <p:nvPr>
            <p:ph type="body" idx="2"/>
          </p:nvPr>
        </p:nvSpPr>
        <p:spPr>
          <a:xfrm>
            <a:off x="4224149" y="1706950"/>
            <a:ext cx="2977800" cy="3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›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›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>
            <a:endParaRPr/>
          </a:p>
        </p:txBody>
      </p:sp>
      <p:grpSp>
        <p:nvGrpSpPr>
          <p:cNvPr id="25" name="Google Shape;25;p83"/>
          <p:cNvGrpSpPr/>
          <p:nvPr/>
        </p:nvGrpSpPr>
        <p:grpSpPr>
          <a:xfrm>
            <a:off x="7395202" y="-6"/>
            <a:ext cx="1748885" cy="4013021"/>
            <a:chOff x="7395202" y="-6"/>
            <a:chExt cx="1748885" cy="4013021"/>
          </a:xfrm>
        </p:grpSpPr>
        <p:sp>
          <p:nvSpPr>
            <p:cNvPr id="26" name="Google Shape;26;p83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83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83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83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83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83"/>
          <p:cNvGrpSpPr/>
          <p:nvPr/>
        </p:nvGrpSpPr>
        <p:grpSpPr>
          <a:xfrm>
            <a:off x="3" y="2738679"/>
            <a:ext cx="722480" cy="2404814"/>
            <a:chOff x="3" y="2750304"/>
            <a:chExt cx="722480" cy="2404814"/>
          </a:xfrm>
        </p:grpSpPr>
        <p:sp>
          <p:nvSpPr>
            <p:cNvPr id="32" name="Google Shape;32;p83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83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83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83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83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" name="Google Shape;37;p83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mall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84"/>
          <p:cNvGrpSpPr/>
          <p:nvPr/>
        </p:nvGrpSpPr>
        <p:grpSpPr>
          <a:xfrm>
            <a:off x="7934863" y="4"/>
            <a:ext cx="1209180" cy="2774603"/>
            <a:chOff x="7395202" y="-6"/>
            <a:chExt cx="1748885" cy="4013021"/>
          </a:xfrm>
        </p:grpSpPr>
        <p:sp>
          <p:nvSpPr>
            <p:cNvPr id="40" name="Google Shape;40;p84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84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84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84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84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" name="Google Shape;45;p84"/>
          <p:cNvGrpSpPr/>
          <p:nvPr/>
        </p:nvGrpSpPr>
        <p:grpSpPr>
          <a:xfrm>
            <a:off x="-1" y="2232486"/>
            <a:ext cx="874634" cy="2911268"/>
            <a:chOff x="3" y="2750304"/>
            <a:chExt cx="722480" cy="2404814"/>
          </a:xfrm>
        </p:grpSpPr>
        <p:sp>
          <p:nvSpPr>
            <p:cNvPr id="46" name="Google Shape;46;p84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84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84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84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84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84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5"/>
          <p:cNvSpPr txBox="1">
            <a:spLocks noGrp="1"/>
          </p:cNvSpPr>
          <p:nvPr>
            <p:ph type="ctrTitle"/>
          </p:nvPr>
        </p:nvSpPr>
        <p:spPr>
          <a:xfrm>
            <a:off x="2647900" y="1659550"/>
            <a:ext cx="38481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5"/>
          <p:cNvSpPr txBox="1">
            <a:spLocks noGrp="1"/>
          </p:cNvSpPr>
          <p:nvPr>
            <p:ph type="subTitle" idx="1"/>
          </p:nvPr>
        </p:nvSpPr>
        <p:spPr>
          <a:xfrm>
            <a:off x="2647975" y="2763850"/>
            <a:ext cx="3848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1800">
                <a:solidFill>
                  <a:srgbClr val="33CCFF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85"/>
          <p:cNvSpPr/>
          <p:nvPr/>
        </p:nvSpPr>
        <p:spPr>
          <a:xfrm rot="5400000" flipH="1">
            <a:off x="6177275" y="-42338"/>
            <a:ext cx="3688200" cy="22461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85"/>
          <p:cNvSpPr/>
          <p:nvPr/>
        </p:nvSpPr>
        <p:spPr>
          <a:xfrm rot="5400000" flipH="1">
            <a:off x="-698074" y="3247200"/>
            <a:ext cx="3573900" cy="21771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5"/>
          <p:cNvSpPr/>
          <p:nvPr/>
        </p:nvSpPr>
        <p:spPr>
          <a:xfrm rot="-5400000" flipH="1">
            <a:off x="-428544" y="2831032"/>
            <a:ext cx="2195100" cy="1338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5"/>
          <p:cNvSpPr/>
          <p:nvPr/>
        </p:nvSpPr>
        <p:spPr>
          <a:xfrm rot="-5400000" flipH="1">
            <a:off x="563748" y="2068298"/>
            <a:ext cx="1518900" cy="9255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5"/>
          <p:cNvSpPr/>
          <p:nvPr/>
        </p:nvSpPr>
        <p:spPr>
          <a:xfrm rot="5400000">
            <a:off x="-253698" y="2260564"/>
            <a:ext cx="1297200" cy="7899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5"/>
          <p:cNvSpPr/>
          <p:nvPr/>
        </p:nvSpPr>
        <p:spPr>
          <a:xfrm rot="-5400000">
            <a:off x="-192598" y="1950593"/>
            <a:ext cx="985800" cy="600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5"/>
          <p:cNvSpPr/>
          <p:nvPr/>
        </p:nvSpPr>
        <p:spPr>
          <a:xfrm rot="5400000" flipH="1">
            <a:off x="7217675" y="1270025"/>
            <a:ext cx="2394600" cy="14589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5"/>
          <p:cNvSpPr/>
          <p:nvPr/>
        </p:nvSpPr>
        <p:spPr>
          <a:xfrm rot="-5400000">
            <a:off x="7922499" y="2744289"/>
            <a:ext cx="1518600" cy="9255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5"/>
          <p:cNvSpPr/>
          <p:nvPr/>
        </p:nvSpPr>
        <p:spPr>
          <a:xfrm rot="-5400000" flipH="1">
            <a:off x="7315902" y="2802275"/>
            <a:ext cx="1027800" cy="6261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5"/>
          <p:cNvSpPr/>
          <p:nvPr/>
        </p:nvSpPr>
        <p:spPr>
          <a:xfrm rot="-5400000" flipH="1">
            <a:off x="6337825" y="578875"/>
            <a:ext cx="1520100" cy="9261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7"/>
          <p:cNvSpPr txBox="1">
            <a:spLocks noGrp="1"/>
          </p:cNvSpPr>
          <p:nvPr>
            <p:ph type="title"/>
          </p:nvPr>
        </p:nvSpPr>
        <p:spPr>
          <a:xfrm>
            <a:off x="1067088" y="912850"/>
            <a:ext cx="59721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87"/>
          <p:cNvSpPr txBox="1">
            <a:spLocks noGrp="1"/>
          </p:cNvSpPr>
          <p:nvPr>
            <p:ph type="body" idx="1"/>
          </p:nvPr>
        </p:nvSpPr>
        <p:spPr>
          <a:xfrm>
            <a:off x="1067088" y="1650548"/>
            <a:ext cx="5972100" cy="27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›"/>
              <a:defRPr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»"/>
              <a:defRPr/>
            </a:lvl9pPr>
          </a:lstStyle>
          <a:p>
            <a:endParaRPr/>
          </a:p>
        </p:txBody>
      </p:sp>
      <p:grpSp>
        <p:nvGrpSpPr>
          <p:cNvPr id="82" name="Google Shape;82;p87"/>
          <p:cNvGrpSpPr/>
          <p:nvPr/>
        </p:nvGrpSpPr>
        <p:grpSpPr>
          <a:xfrm>
            <a:off x="7395202" y="-6"/>
            <a:ext cx="1748885" cy="4013021"/>
            <a:chOff x="7395202" y="-6"/>
            <a:chExt cx="1748885" cy="4013021"/>
          </a:xfrm>
        </p:grpSpPr>
        <p:sp>
          <p:nvSpPr>
            <p:cNvPr id="83" name="Google Shape;83;p87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87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87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87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87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87"/>
          <p:cNvGrpSpPr/>
          <p:nvPr/>
        </p:nvGrpSpPr>
        <p:grpSpPr>
          <a:xfrm>
            <a:off x="3" y="2738679"/>
            <a:ext cx="722480" cy="2404814"/>
            <a:chOff x="3" y="2750304"/>
            <a:chExt cx="722480" cy="2404814"/>
          </a:xfrm>
        </p:grpSpPr>
        <p:sp>
          <p:nvSpPr>
            <p:cNvPr id="89" name="Google Shape;89;p87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87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87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87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87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87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ig">
  <p:cSld name="BLANK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88"/>
          <p:cNvGrpSpPr/>
          <p:nvPr/>
        </p:nvGrpSpPr>
        <p:grpSpPr>
          <a:xfrm>
            <a:off x="7395202" y="-6"/>
            <a:ext cx="1748885" cy="4013021"/>
            <a:chOff x="7395202" y="-6"/>
            <a:chExt cx="1748885" cy="4013021"/>
          </a:xfrm>
        </p:grpSpPr>
        <p:sp>
          <p:nvSpPr>
            <p:cNvPr id="97" name="Google Shape;97;p88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88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88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88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88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352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88"/>
          <p:cNvSpPr/>
          <p:nvPr/>
        </p:nvSpPr>
        <p:spPr>
          <a:xfrm rot="5400000" flipH="1">
            <a:off x="-479615" y="1845054"/>
            <a:ext cx="2455200" cy="1495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8"/>
          <p:cNvSpPr/>
          <p:nvPr/>
        </p:nvSpPr>
        <p:spPr>
          <a:xfrm rot="5400000">
            <a:off x="-262152" y="1526813"/>
            <a:ext cx="1340700" cy="8163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8"/>
          <p:cNvSpPr/>
          <p:nvPr/>
        </p:nvSpPr>
        <p:spPr>
          <a:xfrm rot="-5400000" flipH="1">
            <a:off x="-358955" y="3663589"/>
            <a:ext cx="1838400" cy="11205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8"/>
          <p:cNvSpPr/>
          <p:nvPr/>
        </p:nvSpPr>
        <p:spPr>
          <a:xfrm rot="-5400000">
            <a:off x="-199052" y="1206482"/>
            <a:ext cx="1018800" cy="6207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8"/>
          <p:cNvSpPr/>
          <p:nvPr/>
        </p:nvSpPr>
        <p:spPr>
          <a:xfrm rot="-5400000" flipH="1">
            <a:off x="472234" y="3024661"/>
            <a:ext cx="1272000" cy="7752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35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8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F3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1"/>
          <p:cNvSpPr txBox="1">
            <a:spLocks noGrp="1"/>
          </p:cNvSpPr>
          <p:nvPr>
            <p:ph type="title"/>
          </p:nvPr>
        </p:nvSpPr>
        <p:spPr>
          <a:xfrm>
            <a:off x="1067088" y="912850"/>
            <a:ext cx="59721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7" name="Google Shape;7;p81"/>
          <p:cNvSpPr txBox="1">
            <a:spLocks noGrp="1"/>
          </p:cNvSpPr>
          <p:nvPr>
            <p:ph type="body" idx="1"/>
          </p:nvPr>
        </p:nvSpPr>
        <p:spPr>
          <a:xfrm>
            <a:off x="1067088" y="1650548"/>
            <a:ext cx="5972100" cy="27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»"/>
              <a:defRPr sz="24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8" name="Google Shape;8;p81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ctrTitle" idx="4294967295"/>
          </p:nvPr>
        </p:nvSpPr>
        <p:spPr>
          <a:xfrm>
            <a:off x="-143150" y="1709800"/>
            <a:ext cx="94257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3600" b="1" i="0" u="none" strike="noStrike" cap="non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CHÀO MỪNG</a:t>
            </a:r>
            <a:br>
              <a:rPr lang="en-US" sz="3600" b="1" i="0" u="none" strike="noStrike" cap="non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i="0" u="none" strike="noStrike" cap="non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QUÝ </a:t>
            </a:r>
            <a:r>
              <a:rPr lang="en-US" sz="36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 VIÊN</a:t>
            </a:r>
            <a:endParaRPr sz="3600" b="1" i="0" u="none" strike="noStrike" cap="none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14" name="Google Shape;114;p4" descr="Hình ảnh Ghim câu chuyệ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633" y="-29610"/>
            <a:ext cx="8007658" cy="1597357"/>
          </a:xfrm>
          <a:prstGeom prst="homePlate">
            <a:avLst>
              <a:gd name="adj" fmla="val 50000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15" name="Google Shape;115;p4"/>
          <p:cNvSpPr txBox="1"/>
          <p:nvPr/>
        </p:nvSpPr>
        <p:spPr>
          <a:xfrm>
            <a:off x="1754861" y="3007690"/>
            <a:ext cx="5634300" cy="21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7F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7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 b="1" i="0" u="none" strike="noStrike" cap="none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</a:t>
            </a:r>
            <a:r>
              <a:rPr lang="en-US" sz="2000" b="1" i="0" u="none" strike="noStrike" cap="none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2000" b="1" i="0" u="none" strike="noStrike" cap="none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2000" b="1" i="0" u="none" strike="noStrike" cap="none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dẫn</a:t>
            </a:r>
            <a:r>
              <a:rPr lang="en-US" sz="2000" b="1" i="0" u="none" strike="noStrike" cap="none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1" i="0" u="none" strike="noStrike" cap="none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Trần</a:t>
            </a:r>
            <a:r>
              <a:rPr lang="en-US" sz="2000" b="1" i="0" u="none" strike="noStrike" cap="none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Văn Huy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2000" b="1" i="0" u="none" strike="noStrike" cap="none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Lớp</a:t>
            </a:r>
            <a:r>
              <a:rPr lang="en-US" sz="2000" b="1" i="0" u="none" strike="noStrike" cap="none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DP20302</a:t>
            </a:r>
            <a:endParaRPr sz="2000" b="0" i="0" u="none" strike="noStrike" cap="none" dirty="0">
              <a:solidFill>
                <a:srgbClr val="FFCCE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7F33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2000" b="0" i="0" u="none" strike="noStrike" cap="none" dirty="0">
              <a:solidFill>
                <a:srgbClr val="7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 txBox="1"/>
          <p:nvPr/>
        </p:nvSpPr>
        <p:spPr>
          <a:xfrm>
            <a:off x="2929053" y="453483"/>
            <a:ext cx="3285893" cy="1721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32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ÁN 1</a:t>
            </a:r>
            <a:endParaRPr sz="48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112;p4">
            <a:extLst>
              <a:ext uri="{FF2B5EF4-FFF2-40B4-BE49-F238E27FC236}">
                <a16:creationId xmlns:a16="http://schemas.microsoft.com/office/drawing/2014/main" id="{8091833C-169B-552E-3CA8-69D9D5D9E6B6}"/>
              </a:ext>
            </a:extLst>
          </p:cNvPr>
          <p:cNvSpPr txBox="1">
            <a:spLocks/>
          </p:cNvSpPr>
          <p:nvPr/>
        </p:nvSpPr>
        <p:spPr>
          <a:xfrm>
            <a:off x="2059258" y="2571750"/>
            <a:ext cx="5493836" cy="2262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algn="ctr"/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 </a:t>
            </a:r>
            <a:r>
              <a:rPr lang="vi-VN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LƯƠNG DATA</a:t>
            </a:r>
            <a:endParaRPr lang="en-US" sz="28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vi-VN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TOÀN CẦU</a:t>
            </a: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2020–2023 </a:t>
            </a:r>
            <a:endParaRPr lang="en-US" sz="28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 BÁO </a:t>
            </a:r>
            <a:r>
              <a:rPr lang="vi-VN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vi-VN" sz="28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B2CB7640-13CF-0B64-D95E-5CCD3D9FD4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895707" cy="90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E3EE8CDA-9B71-B422-4FF4-623C56C8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>
            <a:extLst>
              <a:ext uri="{FF2B5EF4-FFF2-40B4-BE49-F238E27FC236}">
                <a16:creationId xmlns:a16="http://schemas.microsoft.com/office/drawing/2014/main" id="{6A5D6F23-6F61-7AE2-F649-FCF00D448FF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565196" y="1331127"/>
            <a:ext cx="2390104" cy="119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lục</a:t>
            </a:r>
            <a:endParaRPr lang="vi-VN" sz="3200" dirty="0">
              <a:solidFill>
                <a:schemeClr val="accent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Google Shape;113;p4">
            <a:extLst>
              <a:ext uri="{FF2B5EF4-FFF2-40B4-BE49-F238E27FC236}">
                <a16:creationId xmlns:a16="http://schemas.microsoft.com/office/drawing/2014/main" id="{1C80A42E-A7CC-4C90-72A2-AC48834C2D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0510E1F6-F640-5B80-9FD3-AAEA3F447ABE}"/>
              </a:ext>
            </a:extLst>
          </p:cNvPr>
          <p:cNvSpPr txBox="1"/>
          <p:nvPr/>
        </p:nvSpPr>
        <p:spPr>
          <a:xfrm>
            <a:off x="3216025" y="1331127"/>
            <a:ext cx="5634300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1. </a:t>
            </a:r>
            <a:r>
              <a:rPr lang="en-US" sz="2800" dirty="0" err="1">
                <a:solidFill>
                  <a:schemeClr val="tx1"/>
                </a:solidFill>
              </a:rPr>
              <a:t>Giới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thiệu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thành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viên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2. </a:t>
            </a:r>
            <a:r>
              <a:rPr lang="en-US" sz="2800" dirty="0" err="1">
                <a:solidFill>
                  <a:schemeClr val="tx1"/>
                </a:solidFill>
              </a:rPr>
              <a:t>Giới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thiệu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dự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án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3. </a:t>
            </a:r>
            <a:r>
              <a:rPr lang="en-US" sz="2800" dirty="0" err="1">
                <a:solidFill>
                  <a:schemeClr val="tx1"/>
                </a:solidFill>
              </a:rPr>
              <a:t>Chuẩn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hóa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dữ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liệu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4.  Dashboard </a:t>
            </a:r>
            <a:r>
              <a:rPr lang="en-US" sz="2800" dirty="0" err="1">
                <a:solidFill>
                  <a:schemeClr val="tx1"/>
                </a:solidFill>
              </a:rPr>
              <a:t>báo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cáo</a:t>
            </a:r>
            <a:r>
              <a:rPr lang="en-US" sz="2800" dirty="0">
                <a:solidFill>
                  <a:schemeClr val="tx1"/>
                </a:solidFill>
              </a:rPr>
              <a:t> chi </a:t>
            </a:r>
            <a:r>
              <a:rPr lang="en-US" sz="2800" dirty="0" err="1">
                <a:solidFill>
                  <a:schemeClr val="tx1"/>
                </a:solidFill>
              </a:rPr>
              <a:t>tiết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5. </a:t>
            </a:r>
            <a:r>
              <a:rPr lang="en-US" sz="2800" dirty="0" err="1">
                <a:solidFill>
                  <a:schemeClr val="tx1"/>
                </a:solidFill>
              </a:rPr>
              <a:t>Tổng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kết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toàn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phần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6. </a:t>
            </a:r>
            <a:r>
              <a:rPr lang="en-US" sz="2800" dirty="0" err="1">
                <a:solidFill>
                  <a:schemeClr val="tx1"/>
                </a:solidFill>
              </a:rPr>
              <a:t>Kết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luận</a:t>
            </a:r>
            <a:r>
              <a:rPr lang="en-US" sz="2800" dirty="0">
                <a:solidFill>
                  <a:schemeClr val="tx1"/>
                </a:solidFill>
              </a:rPr>
              <a:t> &amp; </a:t>
            </a:r>
            <a:r>
              <a:rPr lang="en-US" sz="2800" dirty="0" err="1">
                <a:solidFill>
                  <a:schemeClr val="tx1"/>
                </a:solidFill>
              </a:rPr>
              <a:t>kiến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nghị</a:t>
            </a:r>
            <a:endParaRPr lang="en-US" sz="2800" dirty="0">
              <a:solidFill>
                <a:schemeClr val="tx1"/>
              </a:solidFill>
            </a:endParaRP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ü"/>
            </a:pPr>
            <a:endParaRPr lang="en-US" sz="2800" dirty="0">
              <a:solidFill>
                <a:schemeClr val="accent2"/>
              </a:solidFill>
            </a:endParaRPr>
          </a:p>
          <a:p>
            <a:pPr marL="342900" indent="-342900">
              <a:buClr>
                <a:schemeClr val="accent2"/>
              </a:buClr>
              <a:buFont typeface="Wingdings" panose="05000000000000000000" pitchFamily="2" charset="2"/>
              <a:buChar char="ü"/>
            </a:pP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4229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>
            <a:spLocks noGrp="1"/>
          </p:cNvSpPr>
          <p:nvPr>
            <p:ph type="ctrTitle" idx="4294967295"/>
          </p:nvPr>
        </p:nvSpPr>
        <p:spPr>
          <a:xfrm>
            <a:off x="2112500" y="-475285"/>
            <a:ext cx="5007125" cy="154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3200" b="1" i="0" u="none" strike="noStrike" cap="none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1. </a:t>
            </a:r>
            <a:r>
              <a:rPr lang="en-US" sz="3200" b="1" i="0" u="none" strike="noStrike" cap="none" dirty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Giới</a:t>
            </a:r>
            <a:r>
              <a:rPr lang="en-US" sz="3200" b="1" i="0" u="none" strike="noStrike" cap="none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200" b="1" i="0" u="none" strike="noStrike" cap="none" dirty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thiệu</a:t>
            </a:r>
            <a:r>
              <a:rPr lang="en-US" sz="3200" b="1" i="0" u="none" strike="noStrike" cap="none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200" b="1" i="0" u="none" strike="noStrike" cap="none" dirty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thành</a:t>
            </a:r>
            <a:r>
              <a:rPr lang="en-US" sz="3200" b="1" i="0" u="none" strike="noStrike" cap="none" dirty="0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200" b="1" i="0" u="none" strike="noStrike" cap="none" dirty="0" err="1">
                <a:solidFill>
                  <a:schemeClr val="accent6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viên</a:t>
            </a:r>
            <a:endParaRPr sz="3200" b="1" i="0" u="none" strike="noStrike" cap="none" dirty="0">
              <a:solidFill>
                <a:schemeClr val="accent6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409" y="952830"/>
            <a:ext cx="1718875" cy="261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5450" y="1181100"/>
            <a:ext cx="1484878" cy="278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4451" y="952830"/>
            <a:ext cx="1484875" cy="2578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04950" y="1181100"/>
            <a:ext cx="1572750" cy="2781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"/>
          <p:cNvPicPr preferRelativeResize="0"/>
          <p:nvPr/>
        </p:nvPicPr>
        <p:blipFill>
          <a:blip r:embed="rId7"/>
          <a:srcRect/>
          <a:stretch/>
        </p:blipFill>
        <p:spPr>
          <a:xfrm>
            <a:off x="7346235" y="952830"/>
            <a:ext cx="1472951" cy="257847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62327" y="3532627"/>
            <a:ext cx="171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Doãn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Thúc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 Định</a:t>
            </a:r>
            <a:endParaRPr sz="1600" dirty="0">
              <a:solidFill>
                <a:srgbClr val="FFFFFF"/>
              </a:solidFill>
              <a:latin typeface="Times New Roman" panose="02020603050405020304" pitchFamily="18" charset="0"/>
              <a:ea typeface="Hind"/>
              <a:cs typeface="Times New Roman" panose="02020603050405020304" pitchFamily="18" charset="0"/>
              <a:sym typeface="Hind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676500" y="4078175"/>
            <a:ext cx="182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Nguyễn Minh Sang</a:t>
            </a:r>
            <a:endParaRPr sz="1600">
              <a:solidFill>
                <a:srgbClr val="FFFFFF"/>
              </a:solidFill>
              <a:latin typeface="Times New Roman" panose="02020603050405020304" pitchFamily="18" charset="0"/>
              <a:ea typeface="Hind"/>
              <a:cs typeface="Times New Roman" panose="02020603050405020304" pitchFamily="18" charset="0"/>
              <a:sym typeface="Hind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3593139" y="3531301"/>
            <a:ext cx="171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Nguyễn Sỹ Toàn</a:t>
            </a:r>
            <a:endParaRPr sz="1600">
              <a:solidFill>
                <a:srgbClr val="FFFFFF"/>
              </a:solidFill>
              <a:latin typeface="Times New Roman" panose="02020603050405020304" pitchFamily="18" charset="0"/>
              <a:ea typeface="Hind"/>
              <a:cs typeface="Times New Roman" panose="02020603050405020304" pitchFamily="18" charset="0"/>
              <a:sym typeface="Hind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5404938" y="4029650"/>
            <a:ext cx="1719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Diệp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Thế</a:t>
            </a: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Tài</a:t>
            </a:r>
            <a:endParaRPr sz="1600" dirty="0">
              <a:solidFill>
                <a:srgbClr val="FFFFFF"/>
              </a:solidFill>
              <a:latin typeface="Times New Roman" panose="02020603050405020304" pitchFamily="18" charset="0"/>
              <a:ea typeface="Hind"/>
              <a:cs typeface="Times New Roman" panose="02020603050405020304" pitchFamily="18" charset="0"/>
              <a:sym typeface="Hind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070511" y="3554401"/>
            <a:ext cx="2024400" cy="58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Nguyễn </a:t>
            </a:r>
            <a:r>
              <a:rPr lang="en-US" sz="1300" dirty="0" err="1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Ngọc</a:t>
            </a: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anose="02020603050405020304" pitchFamily="18" charset="0"/>
                <a:ea typeface="Hind"/>
                <a:cs typeface="Times New Roman" panose="02020603050405020304" pitchFamily="18" charset="0"/>
                <a:sym typeface="Hind"/>
              </a:rPr>
              <a:t>Phương Anh</a:t>
            </a:r>
            <a:endParaRPr sz="1300" dirty="0">
              <a:solidFill>
                <a:srgbClr val="FFFFFF"/>
              </a:solidFill>
              <a:latin typeface="Times New Roman" panose="02020603050405020304" pitchFamily="18" charset="0"/>
              <a:ea typeface="Hind"/>
              <a:cs typeface="Times New Roman" panose="02020603050405020304" pitchFamily="18" charset="0"/>
              <a:sym typeface="Hin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35" grpId="0"/>
      <p:bldP spid="136" grpId="0"/>
      <p:bldP spid="137" grpId="0"/>
      <p:bldP spid="1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>
            <a:spLocks noGrp="1"/>
          </p:cNvSpPr>
          <p:nvPr>
            <p:ph type="title"/>
          </p:nvPr>
        </p:nvSpPr>
        <p:spPr>
          <a:xfrm>
            <a:off x="1510972" y="223351"/>
            <a:ext cx="59721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GIỚI THIỆU DỰ ÁN </a:t>
            </a:r>
            <a:endParaRPr sz="3200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3"/>
          <p:cNvSpPr txBox="1">
            <a:spLocks noGrp="1"/>
          </p:cNvSpPr>
          <p:nvPr>
            <p:ph type="body" idx="2"/>
          </p:nvPr>
        </p:nvSpPr>
        <p:spPr>
          <a:xfrm>
            <a:off x="734088" y="996624"/>
            <a:ext cx="3257700" cy="407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2400" b="1">
                <a:solidFill>
                  <a:srgbClr val="FF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ĐẦU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3200">
              <a:solidFill>
                <a:srgbClr val="FFC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Đây là dự án phân tích toàn diện dựa trên tập dữ liệu thực tế gồm 3.755 mức lương trong file ds_salaries.csv nhằm kể lại hành trình 4 năm bùng nổ của ngành Data &amp; AI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Đồng thời đưa ra lộ trình lương tối ưu cho nhân sự ngành này trong giai đoạn 2025–20261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3"/>
          <p:cNvSpPr txBox="1">
            <a:spLocks noGrp="1"/>
          </p:cNvSpPr>
          <p:nvPr>
            <p:ph type="body" idx="2"/>
          </p:nvPr>
        </p:nvSpPr>
        <p:spPr>
          <a:xfrm>
            <a:off x="4218040" y="939250"/>
            <a:ext cx="3425634" cy="41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2400" b="1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Mục tiêu dự án</a:t>
            </a:r>
            <a:endParaRPr sz="2400" b="1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2400" b="1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Hé lộ xu hướng lương thực tế: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Phân tích các con số không "màu mè" từ năm 2020 đến 2023 để thấy rõ sự biến động của thị trường.</a:t>
            </a:r>
            <a:endParaRPr/>
          </a:p>
          <a:p>
            <a:pPr marL="285750" lvl="0" indent="-285750" algn="l" rtl="0">
              <a:lnSpc>
                <a:spcPct val="115000"/>
              </a:lnSpc>
              <a:spcBef>
                <a:spcPts val="14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 định các yếu tố then chốt: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Tìm ra đâu là những nghề "hot" nhất, cấp bậc nào mang lại thu nhập cao nhất, hình thức làm việc (Remote/On-site) và quốc gia nào trả lương hậu hĩnh nhất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46" name="Google Shape;146;p3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ctrTitle"/>
          </p:nvPr>
        </p:nvSpPr>
        <p:spPr>
          <a:xfrm>
            <a:off x="1359728" y="1984570"/>
            <a:ext cx="6000078" cy="1041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vấn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Câu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chuyện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152" name="Google Shape;152;p7"/>
          <p:cNvSpPr txBox="1">
            <a:spLocks noGrp="1"/>
          </p:cNvSpPr>
          <p:nvPr>
            <p:ph type="sldNum" idx="4294967295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DD08DDD0-65FE-F7E3-3FDA-1E388FD4E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>
            <a:extLst>
              <a:ext uri="{FF2B5EF4-FFF2-40B4-BE49-F238E27FC236}">
                <a16:creationId xmlns:a16="http://schemas.microsoft.com/office/drawing/2014/main" id="{611CC7A2-03CE-322F-1B5B-3AC559DF4C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" name="Google Shape;158;p8">
            <a:extLst>
              <a:ext uri="{FF2B5EF4-FFF2-40B4-BE49-F238E27FC236}">
                <a16:creationId xmlns:a16="http://schemas.microsoft.com/office/drawing/2014/main" id="{00BF3433-1411-CC91-63D3-408113480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4244" y="101479"/>
            <a:ext cx="6902137" cy="5012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2020,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thế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đóng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cửa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dịch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vẫn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tồn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tại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vỏn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vẹn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76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dòng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thập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92.000 USD,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vào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2023,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tập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phình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3.755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dòng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bình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vọt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149.045 USD —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hơn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60%.</a:t>
            </a:r>
          </a:p>
          <a:p>
            <a:pPr marL="7620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lang="en-US" sz="1800" dirty="0">
              <a:solidFill>
                <a:srgbClr val="FFCCE0"/>
              </a:solidFill>
              <a:latin typeface="Times New Roman"/>
              <a:cs typeface="Times New Roman"/>
              <a:sym typeface="Times New Roman"/>
            </a:endParaRPr>
          </a:p>
          <a:p>
            <a:pPr marL="7620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2000" dirty="0"/>
          </a:p>
          <a:p>
            <a:pPr marL="76200" lvl="0" indent="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Câu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chuyện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chỉ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ký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thế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hệ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kỹ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thuật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chỗ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bị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kìm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hãm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dịch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Data/AI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bùng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nổ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trở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mỏ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thập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kỷ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Remote work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từng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“VUA"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nay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nhường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chỗ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sự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trở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văn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phòng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(On-site). Israel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thầm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vượt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Mỹ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1800" b="0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b="0" dirty="0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31939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1686130" y="0"/>
            <a:ext cx="59721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Giải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thích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bộ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36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 b="1" dirty="0" err="1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endParaRPr sz="4800" dirty="0">
              <a:solidFill>
                <a:schemeClr val="accent1"/>
              </a:solidFill>
            </a:endParaRPr>
          </a:p>
        </p:txBody>
      </p:sp>
      <p:sp>
        <p:nvSpPr>
          <p:cNvPr id="165" name="Google Shape;165;p9"/>
          <p:cNvSpPr txBox="1">
            <a:spLocks noGrp="1"/>
          </p:cNvSpPr>
          <p:nvPr>
            <p:ph type="body" idx="1"/>
          </p:nvPr>
        </p:nvSpPr>
        <p:spPr>
          <a:xfrm>
            <a:off x="676507" y="468351"/>
            <a:ext cx="7980863" cy="467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ds_salaries.csv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cấu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trúc</a:t>
            </a:r>
            <a:endParaRPr sz="1600" b="1" dirty="0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gốc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gồm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11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trường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</a:t>
            </a:r>
            <a:r>
              <a:rPr lang="en-US" sz="1600" b="1" dirty="0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dirty="0" err="1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trọng</a:t>
            </a:r>
            <a:endParaRPr sz="1600" b="1" dirty="0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work_year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(2020-2023).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experience_level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Cấp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bậc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kinh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(EN, MI, SE, EX).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employment_type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Hình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thức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tuyển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dụng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(Full-time, Part-time...).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job_title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Tên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vị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trí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(93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loại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khác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nhau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salary_in_usd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đã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quy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đổi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sang USD (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đây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cột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chính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để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remote_ratio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Tỷ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lệ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từ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xa (0, 50, 100).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company_size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: Quy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mô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ty (S, M, L).</a:t>
            </a:r>
            <a:endParaRPr dirty="0"/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các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thông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tin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về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địa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điểm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ty,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nơi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cư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trú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nhân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viên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  <p:sp>
        <p:nvSpPr>
          <p:cNvPr id="166" name="Google Shape;166;p9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8051633A-2363-7A3D-F295-186AFDBA6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>
            <a:extLst>
              <a:ext uri="{FF2B5EF4-FFF2-40B4-BE49-F238E27FC236}">
                <a16:creationId xmlns:a16="http://schemas.microsoft.com/office/drawing/2014/main" id="{CC057A92-A6BD-C131-E68D-0C39D2295F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7" name="Google Shape;191;p13">
            <a:extLst>
              <a:ext uri="{FF2B5EF4-FFF2-40B4-BE49-F238E27FC236}">
                <a16:creationId xmlns:a16="http://schemas.microsoft.com/office/drawing/2014/main" id="{C9B0658E-3DFA-8A7E-2609-66CA7E920CA8}"/>
              </a:ext>
            </a:extLst>
          </p:cNvPr>
          <p:cNvSpPr txBox="1">
            <a:spLocks/>
          </p:cNvSpPr>
          <p:nvPr/>
        </p:nvSpPr>
        <p:spPr>
          <a:xfrm>
            <a:off x="750849" y="29389"/>
            <a:ext cx="7166518" cy="1033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algn="ctr"/>
            <a:r>
              <a:rPr lang="en-US" sz="40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4000" dirty="0" err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Chuẩn</a:t>
            </a:r>
            <a:r>
              <a:rPr lang="en-US" sz="40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hóa</a:t>
            </a:r>
            <a:r>
              <a:rPr lang="en-US" sz="40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40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endParaRPr lang="en-US" sz="4000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112;p4">
            <a:extLst>
              <a:ext uri="{FF2B5EF4-FFF2-40B4-BE49-F238E27FC236}">
                <a16:creationId xmlns:a16="http://schemas.microsoft.com/office/drawing/2014/main" id="{9CADA863-BDD7-E9F2-F3EF-9FB439BAF1BF}"/>
              </a:ext>
            </a:extLst>
          </p:cNvPr>
          <p:cNvSpPr txBox="1">
            <a:spLocks/>
          </p:cNvSpPr>
          <p:nvPr/>
        </p:nvSpPr>
        <p:spPr>
          <a:xfrm>
            <a:off x="319869" y="762280"/>
            <a:ext cx="3322863" cy="1199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algn="ctr"/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vi-V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diagram of a service&#10;&#10;AI-generated content may be incorrect.">
            <a:extLst>
              <a:ext uri="{FF2B5EF4-FFF2-40B4-BE49-F238E27FC236}">
                <a16:creationId xmlns:a16="http://schemas.microsoft.com/office/drawing/2014/main" id="{4719466F-019B-D261-49BB-F7939B556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52" y="1671280"/>
            <a:ext cx="6433882" cy="314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0140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B635-A2D9-318B-DD8B-B48407369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7137" y="83000"/>
            <a:ext cx="5972100" cy="556189"/>
          </a:xfrm>
        </p:spPr>
        <p:txBody>
          <a:bodyPr/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82D59-CBDD-5FDC-3D63-7DE16ADAD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044" y="445752"/>
            <a:ext cx="7281458" cy="1280639"/>
          </a:xfrm>
        </p:spPr>
        <p:txBody>
          <a:bodyPr/>
          <a:lstStyle/>
          <a:p>
            <a:pPr marL="7620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trùng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remove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C9455-F018-8B2B-7D38-CAD35CC98F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783BC4-78E3-953F-874F-E3315AFD5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863" y="1895707"/>
            <a:ext cx="6300152" cy="321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1650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01459-EAB5-40A5-09F6-90C05E25C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0E26-E4A9-94F2-08DF-2A22BE270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47" y="127752"/>
            <a:ext cx="5972100" cy="636000"/>
          </a:xfrm>
        </p:spPr>
        <p:txBody>
          <a:bodyPr/>
          <a:lstStyle/>
          <a:p>
            <a:pPr algn="ctr"/>
            <a:r>
              <a:rPr lang="en-US" dirty="0" err="1">
                <a:solidFill>
                  <a:schemeClr val="accent2"/>
                </a:solidFill>
              </a:rPr>
              <a:t>Xử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lý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dữ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liệu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188BE-F0FB-1909-6E89-71D2AA692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185" y="1693020"/>
            <a:ext cx="3965830" cy="1637478"/>
          </a:xfrm>
        </p:spPr>
        <p:txBody>
          <a:bodyPr/>
          <a:lstStyle/>
          <a:p>
            <a:pPr marL="76200" indent="0" algn="ctr">
              <a:buNone/>
            </a:pPr>
            <a:r>
              <a:rPr lang="en-US" dirty="0"/>
              <a:t>Các measure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77F50-697E-D635-851A-EBBB9BA6D0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screenshot of a survey&#10;&#10;AI-generated content may be incorrect.">
            <a:extLst>
              <a:ext uri="{FF2B5EF4-FFF2-40B4-BE49-F238E27FC236}">
                <a16:creationId xmlns:a16="http://schemas.microsoft.com/office/drawing/2014/main" id="{0D241DE6-C6CB-8244-56B4-69625F558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057" y="882476"/>
            <a:ext cx="2649590" cy="383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222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FC91-34AC-5654-93A0-44486E7FF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446A8-B0AE-BEB1-2202-799B362F1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47" y="127752"/>
            <a:ext cx="5972100" cy="636000"/>
          </a:xfrm>
        </p:spPr>
        <p:txBody>
          <a:bodyPr/>
          <a:lstStyle/>
          <a:p>
            <a:pPr algn="ctr"/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351F4-1A33-71A3-6F31-0DB408F320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F2972A5-5D9D-C182-56A9-DD6404B48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385" y="564476"/>
            <a:ext cx="2441830" cy="636000"/>
          </a:xfrm>
        </p:spPr>
        <p:txBody>
          <a:bodyPr/>
          <a:lstStyle/>
          <a:p>
            <a:pPr marL="76200" indent="0" algn="ctr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9ABC77-3ED2-1929-845D-A385606DA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215" y="820228"/>
            <a:ext cx="5435123" cy="395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6848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C8985-FA3D-80AB-0274-2D925D8F76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Google Shape;191;p13">
            <a:extLst>
              <a:ext uri="{FF2B5EF4-FFF2-40B4-BE49-F238E27FC236}">
                <a16:creationId xmlns:a16="http://schemas.microsoft.com/office/drawing/2014/main" id="{D324AF4F-3D77-C2A3-D6F8-409D4CC165AE}"/>
              </a:ext>
            </a:extLst>
          </p:cNvPr>
          <p:cNvSpPr txBox="1">
            <a:spLocks/>
          </p:cNvSpPr>
          <p:nvPr/>
        </p:nvSpPr>
        <p:spPr>
          <a:xfrm>
            <a:off x="669073" y="1122557"/>
            <a:ext cx="7278029" cy="227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 i="0" u="none" strike="noStrike" cap="none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algn="ctr"/>
            <a:r>
              <a:rPr lang="en-US" sz="40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Dashboard </a:t>
            </a:r>
            <a:r>
              <a:rPr lang="en-US" sz="4000" dirty="0" err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</a:t>
            </a:r>
            <a:r>
              <a:rPr lang="en-US" sz="40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dirty="0" err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cáo</a:t>
            </a:r>
            <a:r>
              <a:rPr lang="en-US" sz="4000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chi </a:t>
            </a:r>
            <a:r>
              <a:rPr lang="en-US" sz="4000" dirty="0" err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tiết</a:t>
            </a:r>
            <a:endParaRPr lang="en-US" sz="4000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96800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>
            <a:spLocks noGrp="1"/>
          </p:cNvSpPr>
          <p:nvPr>
            <p:ph type="ctrTitle" idx="4294967295"/>
          </p:nvPr>
        </p:nvSpPr>
        <p:spPr>
          <a:xfrm>
            <a:off x="735980" y="1152293"/>
            <a:ext cx="7278029" cy="227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</a:t>
            </a: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b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 </a:t>
            </a:r>
            <a:r>
              <a:rPr lang="en-US" sz="7200" dirty="0" err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72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iết</a:t>
            </a:r>
            <a:endParaRPr sz="72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13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195" name="Google Shape;195;p13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13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198" name="Google Shape;198;p13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" name="Google Shape;202;p13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/>
          <p:nvPr/>
        </p:nvSpPr>
        <p:spPr>
          <a:xfrm rot="-931596">
            <a:off x="7052573" y="2220270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05" name="Google Shape;205;p13"/>
          <p:cNvSpPr txBox="1"/>
          <p:nvPr/>
        </p:nvSpPr>
        <p:spPr>
          <a:xfrm>
            <a:off x="2111849" y="332459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226894A1-8FFB-7EB1-D4C1-350BBC64C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072"/>
            <a:ext cx="9144000" cy="5101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 txBox="1">
            <a:spLocks noGrp="1"/>
          </p:cNvSpPr>
          <p:nvPr>
            <p:ph type="title"/>
          </p:nvPr>
        </p:nvSpPr>
        <p:spPr>
          <a:xfrm>
            <a:off x="1106417" y="190967"/>
            <a:ext cx="6257944" cy="870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400" b="1">
                <a:solidFill>
                  <a:srgbClr val="7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 xét</a:t>
            </a:r>
            <a:endParaRPr sz="4400">
              <a:solidFill>
                <a:srgbClr val="7F33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7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2118851" y="1166881"/>
            <a:ext cx="4572000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 → 2021: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nhẹ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(92K → 94K)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2021 → 2022: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(94K → 133K)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đoạn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bùng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nổ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nhu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Data/AI.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2022 → 2023: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tiếp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tục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chậm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hơn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(133K → 140K).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➡️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chung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Science &amp; AI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rõ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rệt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>
            <a:spLocks noGrp="1"/>
          </p:cNvSpPr>
          <p:nvPr>
            <p:ph type="title"/>
          </p:nvPr>
        </p:nvSpPr>
        <p:spPr>
          <a:xfrm>
            <a:off x="1480042" y="0"/>
            <a:ext cx="5363209" cy="77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b="1" dirty="0">
                <a:solidFill>
                  <a:srgbClr val="BF4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>
                <a:solidFill>
                  <a:srgbClr val="BF4C00"/>
                </a:solidFill>
                <a:latin typeface="Arial"/>
                <a:ea typeface="Arial"/>
                <a:cs typeface="Arial"/>
                <a:sym typeface="Arial"/>
              </a:rPr>
              <a:t>Tổng</a:t>
            </a:r>
            <a:r>
              <a:rPr lang="en-US" sz="3200" b="1" dirty="0">
                <a:solidFill>
                  <a:srgbClr val="BF4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 err="1">
                <a:solidFill>
                  <a:srgbClr val="BF4C00"/>
                </a:solidFill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en-US" sz="3200" b="1" dirty="0">
                <a:solidFill>
                  <a:srgbClr val="BF4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7200" dirty="0">
              <a:solidFill>
                <a:srgbClr val="BF4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1229032" y="988516"/>
            <a:ext cx="6508955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 mạnh nhất vào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 2022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 2023 có mức lương cao nhất và chiếm tỷ trọng lớn nhất trong tổng mức lương 4 năm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được thiết kế với các mục để phân tích thêm theo công việc, khu vực, kinh nghiệm &amp; remote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⮚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 ngành DS/AI tăng đều trong giai đoạn 2020–2023.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>
            <a:spLocks noGrp="1"/>
          </p:cNvSpPr>
          <p:nvPr>
            <p:ph type="ctrTitle" idx="4294967295"/>
          </p:nvPr>
        </p:nvSpPr>
        <p:spPr>
          <a:xfrm>
            <a:off x="735980" y="1152293"/>
            <a:ext cx="7278029" cy="227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	</a:t>
            </a:r>
            <a:b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72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ổng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</a:t>
            </a:r>
            <a:endParaRPr sz="72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0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20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256" name="Google Shape;256;p20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20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259" name="Google Shape;259;p20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20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/>
          <p:nvPr/>
        </p:nvSpPr>
        <p:spPr>
          <a:xfrm rot="-931596">
            <a:off x="7052573" y="2220270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0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1939328" y="292301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29D193-3BE7-2CB0-CC1A-E98C4FE5D6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1B4559-6CE4-2FE5-C085-F6E13DE5F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7428" y="0"/>
            <a:ext cx="945885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986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>
            <a:spLocks noGrp="1"/>
          </p:cNvSpPr>
          <p:nvPr>
            <p:ph type="title"/>
          </p:nvPr>
        </p:nvSpPr>
        <p:spPr>
          <a:xfrm>
            <a:off x="275303" y="29497"/>
            <a:ext cx="7452852" cy="972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30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570271" y="757084"/>
            <a:ext cx="8573604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Ngành Data/AI có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 tăng mạnh từ 2021 → 2022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Nhân sự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chiếm đa số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ảnh hưởng đến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 lương trung bình cao.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Hình thức làm việc chủ yếu: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 + Hybrid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100% rất thấp.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Israel, Mỹ và Puerto Rico là </a:t>
            </a: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nơi trả lương cao nhất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 trưởng lương YoY chỉ 3% → thị trường đang dần bão hòa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"/>
          <p:cNvSpPr txBox="1">
            <a:spLocks noGrp="1"/>
          </p:cNvSpPr>
          <p:nvPr>
            <p:ph type="ctrTitle" idx="4294967295"/>
          </p:nvPr>
        </p:nvSpPr>
        <p:spPr>
          <a:xfrm>
            <a:off x="735980" y="1152293"/>
            <a:ext cx="7278029" cy="227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Report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heo </a:t>
            </a:r>
            <a:r>
              <a:rPr lang="en-US" sz="7200" dirty="0" err="1"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endParaRPr sz="72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31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 dirty="0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 dirty="0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" name="Google Shape;354;p31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355" name="Google Shape;355;p31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7" name="Google Shape;357;p31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358" name="Google Shape;358;p31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1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p31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1"/>
          <p:cNvSpPr/>
          <p:nvPr/>
        </p:nvSpPr>
        <p:spPr>
          <a:xfrm rot="-931596">
            <a:off x="7052573" y="2220270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1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21</a:t>
            </a:fld>
            <a:endParaRPr dirty="0"/>
          </a:p>
        </p:txBody>
      </p:sp>
      <p:sp>
        <p:nvSpPr>
          <p:cNvPr id="365" name="Google Shape;365;p31"/>
          <p:cNvSpPr txBox="1"/>
          <p:nvPr/>
        </p:nvSpPr>
        <p:spPr>
          <a:xfrm>
            <a:off x="2111849" y="268694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C32795-0DBA-D25A-6CB1-29498E000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9143874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"/>
          <p:cNvSpPr txBox="1">
            <a:spLocks noGrp="1"/>
          </p:cNvSpPr>
          <p:nvPr>
            <p:ph type="title"/>
          </p:nvPr>
        </p:nvSpPr>
        <p:spPr>
          <a:xfrm>
            <a:off x="2356864" y="29389"/>
            <a:ext cx="3077497" cy="6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20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42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42" name="Google Shape;442;p42"/>
          <p:cNvSpPr txBox="1"/>
          <p:nvPr/>
        </p:nvSpPr>
        <p:spPr>
          <a:xfrm>
            <a:off x="925503" y="699981"/>
            <a:ext cx="7452852" cy="427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Theo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</a:t>
            </a: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vực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Mỹ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Israel, Anh,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Canada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dẫn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đầu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Châu Á: Singapore,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Nhật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nổi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bật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1" i="0" u="none" strike="noStrike" cap="none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FE99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Theo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việc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Lead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Architect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job top 1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Scientist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thường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không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bằng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Engineer/Architect</a:t>
            </a:r>
            <a:endParaRPr sz="1600" b="1" i="0" u="none" strike="noStrike" cap="none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FE99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Theo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quy</a:t>
            </a: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</a:t>
            </a: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Medium-size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công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thấp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1" i="0" u="none" strike="noStrike" cap="none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FE99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Theo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</a:t>
            </a: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độ</a:t>
            </a: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remote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Làm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remote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hơn</a:t>
            </a: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onsite.</a:t>
            </a:r>
            <a:endParaRPr sz="1600" b="1" i="0" u="none" strike="noStrike" cap="none" dirty="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FE99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Theo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</a:t>
            </a:r>
            <a:r>
              <a:rPr lang="en-US" sz="16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 dirty="0" err="1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 highest &gt; SE &gt; MI &gt; EN.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4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4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3"/>
          <p:cNvSpPr txBox="1">
            <a:spLocks noGrp="1"/>
          </p:cNvSpPr>
          <p:nvPr>
            <p:ph type="ctrTitle" idx="4294967295"/>
          </p:nvPr>
        </p:nvSpPr>
        <p:spPr>
          <a:xfrm>
            <a:off x="136074" y="1286854"/>
            <a:ext cx="8593874" cy="2276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</a:t>
            </a:r>
            <a:b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heo </a:t>
            </a:r>
            <a:r>
              <a:rPr lang="en-US" sz="72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</a:t>
            </a:r>
            <a:r>
              <a:rPr lang="en-US" sz="72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vực</a:t>
            </a:r>
            <a:endParaRPr sz="72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43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43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0" name="Google Shape;450;p43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451" name="Google Shape;451;p43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3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p43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454" name="Google Shape;454;p43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3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3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3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8" name="Google Shape;458;p43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3"/>
          <p:cNvSpPr/>
          <p:nvPr/>
        </p:nvSpPr>
        <p:spPr>
          <a:xfrm rot="-931596">
            <a:off x="6481106" y="1462098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3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461" name="Google Shape;461;p43"/>
          <p:cNvSpPr txBox="1"/>
          <p:nvPr/>
        </p:nvSpPr>
        <p:spPr>
          <a:xfrm>
            <a:off x="2068288" y="626233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4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3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4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A40902C-D874-A4FA-DC62-B7B48B43E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342"/>
            <a:ext cx="9144000" cy="50691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5"/>
          <p:cNvSpPr txBox="1">
            <a:spLocks noGrp="1"/>
          </p:cNvSpPr>
          <p:nvPr>
            <p:ph type="title"/>
          </p:nvPr>
        </p:nvSpPr>
        <p:spPr>
          <a:xfrm>
            <a:off x="728785" y="29389"/>
            <a:ext cx="6872749" cy="6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55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543" name="Google Shape;543;p55"/>
          <p:cNvSpPr txBox="1"/>
          <p:nvPr/>
        </p:nvSpPr>
        <p:spPr>
          <a:xfrm>
            <a:off x="1047135" y="1140786"/>
            <a:ext cx="7049729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US chiếm phần lớn số lượng công việc</a:t>
            </a: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Israel là nước trả lương trung bình cao nhất</a:t>
            </a: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Lương trung bình toàn cầu khoảng 137K</a:t>
            </a: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Lương tăng dần qua các năm</a:t>
            </a: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✔ Một số quốc gia thấp hơn mức trung bình khá nhiều</a:t>
            </a: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6"/>
          <p:cNvSpPr txBox="1">
            <a:spLocks noGrp="1"/>
          </p:cNvSpPr>
          <p:nvPr>
            <p:ph type="ctrTitle" idx="4294967295"/>
          </p:nvPr>
        </p:nvSpPr>
        <p:spPr>
          <a:xfrm>
            <a:off x="345421" y="1279478"/>
            <a:ext cx="8504904" cy="23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</a:t>
            </a:r>
            <a:br>
              <a:rPr lang="en-US" sz="5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4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US" sz="5400" dirty="0">
                <a:latin typeface="Times New Roman"/>
                <a:ea typeface="Times New Roman"/>
                <a:cs typeface="Times New Roman"/>
                <a:sym typeface="Times New Roman"/>
              </a:rPr>
              <a:t>remote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4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56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56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1" name="Google Shape;551;p56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552" name="Google Shape;552;p56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6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4" name="Google Shape;554;p56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555" name="Google Shape;555;p56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6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6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6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9" name="Google Shape;559;p56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6"/>
          <p:cNvSpPr/>
          <p:nvPr/>
        </p:nvSpPr>
        <p:spPr>
          <a:xfrm rot="-931596">
            <a:off x="7052573" y="2220270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6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562" name="Google Shape;562;p56"/>
          <p:cNvSpPr txBox="1"/>
          <p:nvPr/>
        </p:nvSpPr>
        <p:spPr>
          <a:xfrm>
            <a:off x="2267098" y="528958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6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7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2B9ED1-174F-8753-1213-8FAA863E1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5"/>
          <p:cNvSpPr txBox="1">
            <a:spLocks noGrp="1"/>
          </p:cNvSpPr>
          <p:nvPr>
            <p:ph type="title"/>
          </p:nvPr>
        </p:nvSpPr>
        <p:spPr>
          <a:xfrm>
            <a:off x="471949" y="167149"/>
            <a:ext cx="7167715" cy="92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>
                <a:solidFill>
                  <a:srgbClr val="BF0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</a:t>
            </a:r>
            <a:r>
              <a:rPr lang="en-US" sz="3600" b="1">
                <a:solidFill>
                  <a:srgbClr val="BF0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 xét</a:t>
            </a:r>
            <a:endParaRPr sz="333300">
              <a:solidFill>
                <a:srgbClr val="BF00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65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623" name="Google Shape;623;p65"/>
          <p:cNvSpPr txBox="1"/>
          <p:nvPr/>
        </p:nvSpPr>
        <p:spPr>
          <a:xfrm>
            <a:off x="1012723" y="1260071"/>
            <a:ext cx="657778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Với vị trí cấp thấp đến cao chiếm tỷ lệ remote cao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0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EA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Entry-level làm remote 🡪 chi phí thấp.</a:t>
            </a:r>
            <a:endParaRPr/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0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EAF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0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EA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Expert làm remote 🡪 mức tự chủ cao.</a:t>
            </a:r>
            <a:endParaRPr/>
          </a:p>
          <a:p>
            <a:pPr marL="342900" marR="0" lvl="0" indent="-190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0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EAF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0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EAF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 mid-level, senior 🡪 tỷ lệ hybrid cao nhất.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6"/>
          <p:cNvSpPr txBox="1">
            <a:spLocks noGrp="1"/>
          </p:cNvSpPr>
          <p:nvPr>
            <p:ph type="ctrTitle" idx="4294967295"/>
          </p:nvPr>
        </p:nvSpPr>
        <p:spPr>
          <a:xfrm>
            <a:off x="237223" y="1094388"/>
            <a:ext cx="8504904" cy="23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Report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dirty="0" err="1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ự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đoán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4000" dirty="0" err="1">
                <a:latin typeface="Times New Roman"/>
                <a:ea typeface="Times New Roman"/>
                <a:cs typeface="Times New Roman"/>
                <a:sym typeface="Times New Roman"/>
              </a:rPr>
              <a:t>ă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trưởng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năm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2024</a:t>
            </a:r>
            <a:endParaRPr sz="4000" b="1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9" name="Google Shape;629;p66"/>
          <p:cNvSpPr txBox="1">
            <a:spLocks noGrp="1"/>
          </p:cNvSpPr>
          <p:nvPr>
            <p:ph type="subTitle" idx="4294967295"/>
          </p:nvPr>
        </p:nvSpPr>
        <p:spPr>
          <a:xfrm>
            <a:off x="1672075" y="3411552"/>
            <a:ext cx="5635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None/>
            </a:pPr>
            <a:r>
              <a:rPr lang="en-US" sz="1800" b="1" i="0" u="none" strike="noStrike" cap="none">
                <a:solidFill>
                  <a:srgbClr val="BF4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&amp; AI Salary Analysis 2020–2023</a:t>
            </a:r>
            <a:endParaRPr sz="2400" b="1" i="0" u="none" strike="noStrike" cap="none">
              <a:solidFill>
                <a:srgbClr val="BF4C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66"/>
          <p:cNvSpPr/>
          <p:nvPr/>
        </p:nvSpPr>
        <p:spPr>
          <a:xfrm>
            <a:off x="5066647" y="717180"/>
            <a:ext cx="275621" cy="26317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1" name="Google Shape;631;p66"/>
          <p:cNvGrpSpPr/>
          <p:nvPr/>
        </p:nvGrpSpPr>
        <p:grpSpPr>
          <a:xfrm>
            <a:off x="5777513" y="-2278"/>
            <a:ext cx="1254638" cy="1209257"/>
            <a:chOff x="6654650" y="3665275"/>
            <a:chExt cx="409100" cy="409125"/>
          </a:xfrm>
        </p:grpSpPr>
        <p:sp>
          <p:nvSpPr>
            <p:cNvPr id="632" name="Google Shape;632;p66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6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4" name="Google Shape;634;p66"/>
          <p:cNvGrpSpPr/>
          <p:nvPr/>
        </p:nvGrpSpPr>
        <p:grpSpPr>
          <a:xfrm>
            <a:off x="537677" y="39243"/>
            <a:ext cx="1178181" cy="1333379"/>
            <a:chOff x="2978" y="4634875"/>
            <a:chExt cx="698572" cy="987068"/>
          </a:xfrm>
        </p:grpSpPr>
        <p:sp>
          <p:nvSpPr>
            <p:cNvPr id="635" name="Google Shape;635;p66"/>
            <p:cNvSpPr/>
            <p:nvPr/>
          </p:nvSpPr>
          <p:spPr>
            <a:xfrm>
              <a:off x="2978" y="5178618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66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6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66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" name="Google Shape;639;p66"/>
          <p:cNvSpPr/>
          <p:nvPr/>
        </p:nvSpPr>
        <p:spPr>
          <a:xfrm rot="1892490">
            <a:off x="6821707" y="1112575"/>
            <a:ext cx="275600" cy="26315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66"/>
          <p:cNvSpPr/>
          <p:nvPr/>
        </p:nvSpPr>
        <p:spPr>
          <a:xfrm rot="-931596">
            <a:off x="7052573" y="2220270"/>
            <a:ext cx="186411" cy="177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C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66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642" name="Google Shape;642;p66"/>
          <p:cNvSpPr txBox="1"/>
          <p:nvPr/>
        </p:nvSpPr>
        <p:spPr>
          <a:xfrm>
            <a:off x="2129717" y="510850"/>
            <a:ext cx="457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66"/>
          <p:cNvSpPr/>
          <p:nvPr/>
        </p:nvSpPr>
        <p:spPr>
          <a:xfrm>
            <a:off x="414052" y="1421259"/>
            <a:ext cx="123625" cy="99017"/>
          </a:xfrm>
          <a:custGeom>
            <a:avLst/>
            <a:gdLst/>
            <a:ahLst/>
            <a:cxnLst/>
            <a:rect l="l" t="t" r="r" b="b"/>
            <a:pathLst>
              <a:path w="2932" h="2932" extrusionOk="0">
                <a:moveTo>
                  <a:pt x="2028" y="1"/>
                </a:moveTo>
                <a:lnTo>
                  <a:pt x="1857" y="25"/>
                </a:lnTo>
                <a:lnTo>
                  <a:pt x="1686" y="74"/>
                </a:lnTo>
                <a:lnTo>
                  <a:pt x="1515" y="147"/>
                </a:lnTo>
                <a:lnTo>
                  <a:pt x="1369" y="269"/>
                </a:lnTo>
                <a:lnTo>
                  <a:pt x="1222" y="489"/>
                </a:lnTo>
                <a:lnTo>
                  <a:pt x="1002" y="831"/>
                </a:lnTo>
                <a:lnTo>
                  <a:pt x="563" y="1735"/>
                </a:lnTo>
                <a:lnTo>
                  <a:pt x="172" y="2565"/>
                </a:lnTo>
                <a:lnTo>
                  <a:pt x="1" y="2932"/>
                </a:lnTo>
                <a:lnTo>
                  <a:pt x="1" y="2932"/>
                </a:lnTo>
                <a:lnTo>
                  <a:pt x="367" y="2761"/>
                </a:lnTo>
                <a:lnTo>
                  <a:pt x="1198" y="2370"/>
                </a:lnTo>
                <a:lnTo>
                  <a:pt x="2101" y="1930"/>
                </a:lnTo>
                <a:lnTo>
                  <a:pt x="2443" y="1710"/>
                </a:lnTo>
                <a:lnTo>
                  <a:pt x="2663" y="1564"/>
                </a:lnTo>
                <a:lnTo>
                  <a:pt x="2785" y="1417"/>
                </a:lnTo>
                <a:lnTo>
                  <a:pt x="2858" y="1246"/>
                </a:lnTo>
                <a:lnTo>
                  <a:pt x="2907" y="1075"/>
                </a:lnTo>
                <a:lnTo>
                  <a:pt x="2932" y="904"/>
                </a:lnTo>
                <a:lnTo>
                  <a:pt x="2907" y="733"/>
                </a:lnTo>
                <a:lnTo>
                  <a:pt x="2858" y="562"/>
                </a:lnTo>
                <a:lnTo>
                  <a:pt x="2785" y="416"/>
                </a:lnTo>
                <a:lnTo>
                  <a:pt x="2663" y="269"/>
                </a:lnTo>
                <a:lnTo>
                  <a:pt x="2517" y="147"/>
                </a:lnTo>
                <a:lnTo>
                  <a:pt x="2370" y="74"/>
                </a:lnTo>
                <a:lnTo>
                  <a:pt x="2199" y="25"/>
                </a:lnTo>
                <a:lnTo>
                  <a:pt x="2028" y="1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7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9A4E40-998D-649D-04AE-7777791F6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3875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3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690" name="Google Shape;690;p73"/>
          <p:cNvSpPr txBox="1">
            <a:spLocks noGrp="1"/>
          </p:cNvSpPr>
          <p:nvPr>
            <p:ph type="title"/>
          </p:nvPr>
        </p:nvSpPr>
        <p:spPr>
          <a:xfrm>
            <a:off x="471949" y="167149"/>
            <a:ext cx="7167715" cy="92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>
                <a:solidFill>
                  <a:srgbClr val="BF0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📌 </a:t>
            </a:r>
            <a:r>
              <a:rPr lang="en-US" sz="3600" b="1">
                <a:solidFill>
                  <a:srgbClr val="BF004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Nhận xét</a:t>
            </a:r>
            <a:endParaRPr sz="333300">
              <a:solidFill>
                <a:srgbClr val="BF004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1" name="Google Shape;691;p73"/>
          <p:cNvSpPr txBox="1"/>
          <p:nvPr/>
        </p:nvSpPr>
        <p:spPr>
          <a:xfrm>
            <a:off x="2067951" y="1898282"/>
            <a:ext cx="5127674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C1FF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 Data Leader - Scientist cao cấp có thu nhập vượt trội so với nhóm Analyst và các vai trò kỹ thuật junior.</a:t>
            </a:r>
            <a:endParaRPr sz="2400" b="1" i="0" u="none" strike="noStrike" cap="none">
              <a:solidFill>
                <a:srgbClr val="C1FFA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73"/>
          <p:cNvSpPr/>
          <p:nvPr/>
        </p:nvSpPr>
        <p:spPr>
          <a:xfrm>
            <a:off x="661181" y="2329082"/>
            <a:ext cx="1174653" cy="48533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2B40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76"/>
          <p:cNvSpPr txBox="1">
            <a:spLocks noGrp="1"/>
          </p:cNvSpPr>
          <p:nvPr>
            <p:ph type="title"/>
          </p:nvPr>
        </p:nvSpPr>
        <p:spPr>
          <a:xfrm>
            <a:off x="275302" y="29497"/>
            <a:ext cx="6872749" cy="6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Tổng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76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718" name="Google Shape;718;p76"/>
          <p:cNvSpPr txBox="1"/>
          <p:nvPr/>
        </p:nvSpPr>
        <p:spPr>
          <a:xfrm>
            <a:off x="1017638" y="730758"/>
            <a:ext cx="6872749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On-site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cao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thấp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Engineer, Data Analyst, Data Scientist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số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lượng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áp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đảo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chiếm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43.75% —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phổ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Lương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tăng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nghiệm</a:t>
            </a: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Đặc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biệt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ở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mốc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Senior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trở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phổ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biến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ở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nhóm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Entry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Expert.</a:t>
            </a:r>
            <a:endParaRPr dirty="0">
              <a:solidFill>
                <a:schemeClr val="tx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None/>
            </a:pPr>
            <a:endParaRPr sz="1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tâm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tập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trung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ở Bắc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Mỹ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châu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Âu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7"/>
          <p:cNvSpPr txBox="1">
            <a:spLocks noGrp="1"/>
          </p:cNvSpPr>
          <p:nvPr>
            <p:ph type="title"/>
          </p:nvPr>
        </p:nvSpPr>
        <p:spPr>
          <a:xfrm>
            <a:off x="938979" y="29497"/>
            <a:ext cx="6872749" cy="6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TỔNG KẾT TOÀN PHẦN </a:t>
            </a:r>
            <a:endParaRPr sz="32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4" name="Google Shape;724;p77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725" name="Google Shape;725;p77"/>
          <p:cNvSpPr txBox="1"/>
          <p:nvPr/>
        </p:nvSpPr>
        <p:spPr>
          <a:xfrm>
            <a:off x="938980" y="727587"/>
            <a:ext cx="6872749" cy="427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66A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2020–2023</a:t>
            </a:r>
            <a:endParaRPr sz="3200" b="1" i="0" u="none" strike="noStrike" cap="none">
              <a:solidFill>
                <a:srgbClr val="FF66A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FF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Lương ngành Data Science &amp; AI tăng mạnh</a:t>
            </a: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FF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Tập trung chủ yếu tại Mỹ</a:t>
            </a: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FF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nhiều về Senior-level</a:t>
            </a: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FF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Mức lương cao nhất thuộc các vị trí Lead/Architect</a:t>
            </a: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None/>
            </a:pPr>
            <a:endParaRPr sz="24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5DFF"/>
              </a:buClr>
              <a:buSzPts val="2400"/>
              <a:buFont typeface="Noto Sans Symbols"/>
              <a:buChar char="⮚"/>
            </a:pPr>
            <a:r>
              <a:rPr lang="en-US" sz="2400" b="1" i="0" u="none" strike="noStrike" cap="none">
                <a:solidFill>
                  <a:srgbClr val="E0FF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hình remote chiếm gần 44% toàn thị trường.</a:t>
            </a:r>
            <a:endParaRPr sz="1800" b="1" i="0" u="none" strike="noStrike" cap="none">
              <a:solidFill>
                <a:srgbClr val="E0FF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Google Shape;122;p1" descr="FPT Polytechnic">
            <a:extLst>
              <a:ext uri="{FF2B5EF4-FFF2-40B4-BE49-F238E27FC236}">
                <a16:creationId xmlns:a16="http://schemas.microsoft.com/office/drawing/2014/main" id="{B2110D4C-9612-2086-3569-E6EEEACD90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29389"/>
            <a:ext cx="1148862" cy="47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7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8"/>
          <p:cNvSpPr txBox="1">
            <a:spLocks noGrp="1"/>
          </p:cNvSpPr>
          <p:nvPr>
            <p:ph type="title"/>
          </p:nvPr>
        </p:nvSpPr>
        <p:spPr>
          <a:xfrm>
            <a:off x="701420" y="-41301"/>
            <a:ext cx="7197590" cy="92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luận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kiến</a:t>
            </a:r>
            <a:r>
              <a:rPr lang="en-US" sz="3200" dirty="0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 err="1">
                <a:solidFill>
                  <a:srgbClr val="FFA3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nghị</a:t>
            </a:r>
            <a:endParaRPr sz="177700" dirty="0">
              <a:solidFill>
                <a:srgbClr val="FFA3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78"/>
          <p:cNvSpPr txBox="1">
            <a:spLocks noGrp="1"/>
          </p:cNvSpPr>
          <p:nvPr>
            <p:ph type="sldNum" idx="12"/>
          </p:nvPr>
        </p:nvSpPr>
        <p:spPr>
          <a:xfrm>
            <a:off x="8556775" y="4812625"/>
            <a:ext cx="5871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732" name="Google Shape;732;p78"/>
          <p:cNvSpPr txBox="1"/>
          <p:nvPr/>
        </p:nvSpPr>
        <p:spPr>
          <a:xfrm>
            <a:off x="-983" y="1184485"/>
            <a:ext cx="998806" cy="352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luận</a:t>
            </a:r>
            <a:endParaRPr sz="1600" b="0" i="0" u="none" strike="noStrike" cap="none">
              <a:solidFill>
                <a:srgbClr val="FE99C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3" name="Google Shape;733;p78"/>
          <p:cNvCxnSpPr/>
          <p:nvPr/>
        </p:nvCxnSpPr>
        <p:spPr>
          <a:xfrm rot="10800000" flipH="1">
            <a:off x="997823" y="1007239"/>
            <a:ext cx="1386651" cy="35364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34" name="Google Shape;734;p78"/>
          <p:cNvSpPr txBox="1"/>
          <p:nvPr/>
        </p:nvSpPr>
        <p:spPr>
          <a:xfrm>
            <a:off x="1751427" y="914566"/>
            <a:ext cx="5641145" cy="137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Ngành Data/AI vẫn tăng trưởng mạnh về thu nhập.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Chênh lệch lương theo kinh nghiệm và chức danh rất lớn.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trở thành lợi thế cạnh tranh trong định giá mức lương.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báo 2024 tiếp tục năm tăng trưởng lương đáng kể (~166K).</a:t>
            </a:r>
            <a:endParaRPr/>
          </a:p>
        </p:txBody>
      </p:sp>
      <p:cxnSp>
        <p:nvCxnSpPr>
          <p:cNvPr id="735" name="Google Shape;735;p78"/>
          <p:cNvCxnSpPr>
            <a:stCxn id="732" idx="3"/>
          </p:cNvCxnSpPr>
          <p:nvPr/>
        </p:nvCxnSpPr>
        <p:spPr>
          <a:xfrm>
            <a:off x="997823" y="1360880"/>
            <a:ext cx="1330500" cy="11040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6" name="Google Shape;736;p78"/>
          <p:cNvCxnSpPr>
            <a:stCxn id="732" idx="3"/>
          </p:cNvCxnSpPr>
          <p:nvPr/>
        </p:nvCxnSpPr>
        <p:spPr>
          <a:xfrm>
            <a:off x="997823" y="1360880"/>
            <a:ext cx="1105200" cy="41220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7" name="Google Shape;737;p78"/>
          <p:cNvCxnSpPr>
            <a:stCxn id="732" idx="3"/>
          </p:cNvCxnSpPr>
          <p:nvPr/>
        </p:nvCxnSpPr>
        <p:spPr>
          <a:xfrm>
            <a:off x="997823" y="1360879"/>
            <a:ext cx="1105200" cy="76170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38" name="Google Shape;738;p78"/>
          <p:cNvSpPr txBox="1"/>
          <p:nvPr/>
        </p:nvSpPr>
        <p:spPr>
          <a:xfrm>
            <a:off x="797850" y="3573653"/>
            <a:ext cx="1171627" cy="38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CCE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Kiến nghị</a:t>
            </a:r>
            <a:endParaRPr sz="1800" b="0" i="0" u="none" strike="noStrike" cap="none">
              <a:solidFill>
                <a:srgbClr val="FFCCE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9" name="Google Shape;739;p78"/>
          <p:cNvCxnSpPr/>
          <p:nvPr/>
        </p:nvCxnSpPr>
        <p:spPr>
          <a:xfrm>
            <a:off x="1941341" y="3766334"/>
            <a:ext cx="1012874" cy="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40" name="Google Shape;740;p78"/>
          <p:cNvSpPr txBox="1"/>
          <p:nvPr/>
        </p:nvSpPr>
        <p:spPr>
          <a:xfrm>
            <a:off x="2899704" y="2983306"/>
            <a:ext cx="4589584" cy="176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Doanh nghiệp nên xem xét điều chỉnh quỹ lương, đặc biệt cho nhóm senior và expert để giữ chân nhân tài.</a:t>
            </a:r>
            <a:endParaRPr sz="1400" b="0" i="0" u="none" strike="noStrike" cap="none">
              <a:solidFill>
                <a:srgbClr val="FFE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mở rộng tuyển dụng remote để tiếp cận lực lượng nhân sự toàn cầu.</a:t>
            </a:r>
            <a:endParaRPr sz="1400" b="0" i="0" u="none" strike="noStrike" cap="none">
              <a:solidFill>
                <a:srgbClr val="FFE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E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Đầu tư đào tạo để nhân viên junior nâng cấp kỹ năng, hướng đến mid/senior vì biên độ chênh lệch lương lớn.</a:t>
            </a:r>
            <a:endParaRPr sz="1400" b="0" i="0" u="none" strike="noStrike" cap="none">
              <a:solidFill>
                <a:srgbClr val="FFE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41" name="Google Shape;741;p78"/>
          <p:cNvCxnSpPr>
            <a:stCxn id="738" idx="3"/>
          </p:cNvCxnSpPr>
          <p:nvPr/>
        </p:nvCxnSpPr>
        <p:spPr>
          <a:xfrm rot="10800000" flipH="1">
            <a:off x="1969477" y="3172334"/>
            <a:ext cx="916200" cy="59400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2" name="Google Shape;742;p78"/>
          <p:cNvCxnSpPr>
            <a:stCxn id="738" idx="3"/>
          </p:cNvCxnSpPr>
          <p:nvPr/>
        </p:nvCxnSpPr>
        <p:spPr>
          <a:xfrm>
            <a:off x="1969477" y="3766334"/>
            <a:ext cx="1047900" cy="651000"/>
          </a:xfrm>
          <a:prstGeom prst="straightConnector1">
            <a:avLst/>
          </a:prstGeom>
          <a:noFill/>
          <a:ln w="9525" cap="flat" cmpd="sng">
            <a:solidFill>
              <a:srgbClr val="5F93FC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0"/>
          <p:cNvSpPr txBox="1">
            <a:spLocks noGrp="1"/>
          </p:cNvSpPr>
          <p:nvPr>
            <p:ph type="ctrTitle"/>
          </p:nvPr>
        </p:nvSpPr>
        <p:spPr>
          <a:xfrm>
            <a:off x="2328150" y="1991825"/>
            <a:ext cx="4487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endParaRPr/>
          </a:p>
        </p:txBody>
      </p:sp>
      <p:sp>
        <p:nvSpPr>
          <p:cNvPr id="754" name="Google Shape;754;p80"/>
          <p:cNvSpPr txBox="1">
            <a:spLocks noGrp="1"/>
          </p:cNvSpPr>
          <p:nvPr>
            <p:ph type="sldNum" idx="4294967295"/>
          </p:nvPr>
        </p:nvSpPr>
        <p:spPr>
          <a:xfrm>
            <a:off x="8556625" y="4813300"/>
            <a:ext cx="587375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755" name="Google Shape;755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4967"/>
            <a:ext cx="9144000" cy="5143500"/>
          </a:xfrm>
          <a:prstGeom prst="rect">
            <a:avLst/>
          </a:prstGeom>
          <a:solidFill>
            <a:srgbClr val="ECECEC"/>
          </a:solidFill>
          <a:ln w="190500" cap="sq" cmpd="sng">
            <a:solidFill>
              <a:srgbClr val="12161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5000" dist="50800" dir="12900000" kx="195000" ky="145000" algn="tl" rotWithShape="0">
              <a:srgbClr val="000000">
                <a:alpha val="29803"/>
              </a:srgbClr>
            </a:outerShdw>
          </a:effectLst>
        </p:spPr>
      </p:pic>
      <p:sp>
        <p:nvSpPr>
          <p:cNvPr id="756" name="Google Shape;756;p80"/>
          <p:cNvSpPr txBox="1"/>
          <p:nvPr/>
        </p:nvSpPr>
        <p:spPr>
          <a:xfrm rot="-935621">
            <a:off x="39484" y="2277155"/>
            <a:ext cx="471686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FE99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sincerely appreciate you taking the time to listen to our presentation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umaine">
  <a:themeElements>
    <a:clrScheme name="Custom 347">
      <a:dk1>
        <a:srgbClr val="FFFFFF"/>
      </a:dk1>
      <a:lt1>
        <a:srgbClr val="041F30"/>
      </a:lt1>
      <a:dk2>
        <a:srgbClr val="E3E7EC"/>
      </a:dk2>
      <a:lt2>
        <a:srgbClr val="5A6B85"/>
      </a:lt2>
      <a:accent1>
        <a:srgbClr val="6699FF"/>
      </a:accent1>
      <a:accent2>
        <a:srgbClr val="33CCFF"/>
      </a:accent2>
      <a:accent3>
        <a:srgbClr val="33CCCC"/>
      </a:accent3>
      <a:accent4>
        <a:srgbClr val="66FF33"/>
      </a:accent4>
      <a:accent5>
        <a:srgbClr val="FF0066"/>
      </a:accent5>
      <a:accent6>
        <a:srgbClr val="FF6600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1451</Words>
  <Application>Microsoft Office PowerPoint</Application>
  <PresentationFormat>On-screen Show (16:9)</PresentationFormat>
  <Paragraphs>218</Paragraphs>
  <Slides>36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Times New Roman</vt:lpstr>
      <vt:lpstr>Wingdings</vt:lpstr>
      <vt:lpstr>Hind</vt:lpstr>
      <vt:lpstr>Arial</vt:lpstr>
      <vt:lpstr>Noto Sans Symbols</vt:lpstr>
      <vt:lpstr>Calibri</vt:lpstr>
      <vt:lpstr>Dumaine</vt:lpstr>
      <vt:lpstr>CHÀO MỪNG  QUÝ GIẢNG VIÊN</vt:lpstr>
      <vt:lpstr>PowerPoint Presentation</vt:lpstr>
      <vt:lpstr>Mục lục</vt:lpstr>
      <vt:lpstr>1. Giới thiệu thành viên</vt:lpstr>
      <vt:lpstr>2. GIỚI THIỆU DỰ ÁN </vt:lpstr>
      <vt:lpstr>Đặt vấn đề  Câu chuyện dữ liệu</vt:lpstr>
      <vt:lpstr>PowerPoint Presentation</vt:lpstr>
      <vt:lpstr>Giải thích về bộ dữ liệu</vt:lpstr>
      <vt:lpstr>PowerPoint Presentation</vt:lpstr>
      <vt:lpstr>Xử lý dữ liệu</vt:lpstr>
      <vt:lpstr>Xử lý dữ liệu</vt:lpstr>
      <vt:lpstr>Xử lý dữ liệu</vt:lpstr>
      <vt:lpstr>PowerPoint Presentation</vt:lpstr>
      <vt:lpstr>Dashboard      Chi tiết</vt:lpstr>
      <vt:lpstr>PowerPoint Presentation</vt:lpstr>
      <vt:lpstr>Nhận xét</vt:lpstr>
      <vt:lpstr> Tổng kết </vt:lpstr>
      <vt:lpstr>Dashboard   Tổng quan</vt:lpstr>
      <vt:lpstr>PowerPoint Presentation</vt:lpstr>
      <vt:lpstr> Tổng kết </vt:lpstr>
      <vt:lpstr>Report  Theo công việc</vt:lpstr>
      <vt:lpstr>PowerPoint Presentation</vt:lpstr>
      <vt:lpstr> Tổng kết </vt:lpstr>
      <vt:lpstr>Report  Theo khu vực</vt:lpstr>
      <vt:lpstr>PowerPoint Presentation</vt:lpstr>
      <vt:lpstr> Tổng kết </vt:lpstr>
      <vt:lpstr>Report  kinh nghiệm - remote </vt:lpstr>
      <vt:lpstr>PowerPoint Presentation</vt:lpstr>
      <vt:lpstr>📌 Nhận xét</vt:lpstr>
      <vt:lpstr>Report  Dự đoán tăng trưởng lương  năm 2024</vt:lpstr>
      <vt:lpstr>PowerPoint Presentation</vt:lpstr>
      <vt:lpstr>📌 Nhận xét</vt:lpstr>
      <vt:lpstr>Tổng kết </vt:lpstr>
      <vt:lpstr>5. TỔNG KẾT TOÀN PHẦN </vt:lpstr>
      <vt:lpstr>6. Kết luận &amp; kiến nghị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Phương Phương</dc:creator>
  <cp:lastModifiedBy>Phương Phương</cp:lastModifiedBy>
  <cp:revision>17</cp:revision>
  <dcterms:created xsi:type="dcterms:W3CDTF">2025-11-28T04:31:05Z</dcterms:created>
  <dcterms:modified xsi:type="dcterms:W3CDTF">2025-12-10T11:45:45Z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CBFFC5710B6B4FDF90ED7B07BF7D7D4A_12</vt:lpwstr>
  </property>
  <property fmtid="{D5CDD505-2E9C-101B-9397-08002B2CF9AE}" pid="3" name="KSOProductBuildVer">
    <vt:lpwstr>1033-12.2.0.22549</vt:lpwstr>
  </property>
</Properties>
</file>