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35" r:id="rId3"/>
    <p:sldId id="258" r:id="rId4"/>
    <p:sldId id="259" r:id="rId5"/>
    <p:sldId id="260" r:id="rId6"/>
    <p:sldId id="336" r:id="rId7"/>
    <p:sldId id="262" r:id="rId8"/>
    <p:sldId id="342" r:id="rId9"/>
    <p:sldId id="338" r:id="rId10"/>
    <p:sldId id="339" r:id="rId11"/>
    <p:sldId id="340" r:id="rId12"/>
    <p:sldId id="341" r:id="rId13"/>
    <p:sldId id="337" r:id="rId14"/>
    <p:sldId id="266" r:id="rId15"/>
    <p:sldId id="267" r:id="rId16"/>
    <p:sldId id="270" r:id="rId17"/>
    <p:sldId id="272" r:id="rId18"/>
    <p:sldId id="273" r:id="rId19"/>
    <p:sldId id="334" r:id="rId20"/>
    <p:sldId id="283" r:id="rId21"/>
    <p:sldId id="284" r:id="rId22"/>
    <p:sldId id="285" r:id="rId23"/>
    <p:sldId id="295" r:id="rId24"/>
    <p:sldId id="296" r:id="rId25"/>
    <p:sldId id="297" r:id="rId26"/>
    <p:sldId id="308" r:id="rId27"/>
    <p:sldId id="309" r:id="rId28"/>
    <p:sldId id="310" r:id="rId29"/>
    <p:sldId id="318" r:id="rId30"/>
    <p:sldId id="319" r:id="rId31"/>
    <p:sldId id="320" r:id="rId32"/>
    <p:sldId id="326" r:id="rId33"/>
    <p:sldId id="329" r:id="rId34"/>
    <p:sldId id="330" r:id="rId35"/>
    <p:sldId id="331" r:id="rId36"/>
    <p:sldId id="333" r:id="rId37"/>
  </p:sldIdLst>
  <p:sldSz cx="9144000" cy="5143500" type="screen16x9"/>
  <p:notesSz cx="6858000" cy="9144000"/>
  <p:embeddedFontLst>
    <p:embeddedFont>
      <p:font typeface="Hind" panose="02000000000000000000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gvwqZNNZWXo0/rHVud8ktpd1K3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527C82-C28B-4583-A0BF-120FDDBACE64}">
  <a:tblStyle styleId="{44527C82-C28B-4583-A0BF-120FDDBACE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BAD10-551B-4F2E-960F-0D8003075F0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0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8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794312F-4A11-576D-4F38-0D7B6F05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>
            <a:extLst>
              <a:ext uri="{FF2B5EF4-FFF2-40B4-BE49-F238E27FC236}">
                <a16:creationId xmlns:a16="http://schemas.microsoft.com/office/drawing/2014/main" id="{8D8177B5-FAB1-E14C-A448-C7A229F70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77B5438-D6AF-8935-DA27-570904734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497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D67E7CA4-5FFB-0D41-1BC7-89448ADB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56EFE722-7278-5694-42A9-4D5DEBABC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4C9262E1-4F0A-AF42-CF57-661F189B8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668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888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BD233BDF-6AD8-5183-20D6-A0BE4306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292FE555-3A36-91C2-ED6E-BFAD7BCA0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C50BD470-D0B0-F72F-AFD6-B2E6C823E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584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8" name="Google Shape;72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3"/>
          <p:cNvSpPr txBox="1">
            <a:spLocks noGrp="1"/>
          </p:cNvSpPr>
          <p:nvPr>
            <p:ph type="body" idx="1"/>
          </p:nvPr>
        </p:nvSpPr>
        <p:spPr>
          <a:xfrm>
            <a:off x="1067100" y="1706950"/>
            <a:ext cx="29778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›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sp>
        <p:nvSpPr>
          <p:cNvPr id="24" name="Google Shape;24;p83"/>
          <p:cNvSpPr txBox="1">
            <a:spLocks noGrp="1"/>
          </p:cNvSpPr>
          <p:nvPr>
            <p:ph type="body" idx="2"/>
          </p:nvPr>
        </p:nvSpPr>
        <p:spPr>
          <a:xfrm>
            <a:off x="4224149" y="1706950"/>
            <a:ext cx="29778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›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grpSp>
        <p:nvGrpSpPr>
          <p:cNvPr id="25" name="Google Shape;25;p83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26" name="Google Shape;26;p83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83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83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83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83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83"/>
          <p:cNvGrpSpPr/>
          <p:nvPr/>
        </p:nvGrpSpPr>
        <p:grpSpPr>
          <a:xfrm>
            <a:off x="3" y="2738679"/>
            <a:ext cx="722480" cy="2404814"/>
            <a:chOff x="3" y="2750304"/>
            <a:chExt cx="722480" cy="2404814"/>
          </a:xfrm>
        </p:grpSpPr>
        <p:sp>
          <p:nvSpPr>
            <p:cNvPr id="32" name="Google Shape;32;p83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83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83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83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83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8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all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84"/>
          <p:cNvGrpSpPr/>
          <p:nvPr/>
        </p:nvGrpSpPr>
        <p:grpSpPr>
          <a:xfrm>
            <a:off x="7934863" y="4"/>
            <a:ext cx="1209180" cy="2774603"/>
            <a:chOff x="7395202" y="-6"/>
            <a:chExt cx="1748885" cy="4013021"/>
          </a:xfrm>
        </p:grpSpPr>
        <p:sp>
          <p:nvSpPr>
            <p:cNvPr id="40" name="Google Shape;40;p8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8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8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8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8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84"/>
          <p:cNvGrpSpPr/>
          <p:nvPr/>
        </p:nvGrpSpPr>
        <p:grpSpPr>
          <a:xfrm>
            <a:off x="-1" y="2232486"/>
            <a:ext cx="874634" cy="2911268"/>
            <a:chOff x="3" y="2750304"/>
            <a:chExt cx="722480" cy="2404814"/>
          </a:xfrm>
        </p:grpSpPr>
        <p:sp>
          <p:nvSpPr>
            <p:cNvPr id="46" name="Google Shape;46;p84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84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84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84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84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8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7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7"/>
          <p:cNvSpPr txBox="1">
            <a:spLocks noGrp="1"/>
          </p:cNvSpPr>
          <p:nvPr>
            <p:ph type="body" idx="1"/>
          </p:nvPr>
        </p:nvSpPr>
        <p:spPr>
          <a:xfrm>
            <a:off x="1067088" y="1650548"/>
            <a:ext cx="59721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›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  <p:grpSp>
        <p:nvGrpSpPr>
          <p:cNvPr id="82" name="Google Shape;82;p87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83" name="Google Shape;83;p87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87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87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87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7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87"/>
          <p:cNvGrpSpPr/>
          <p:nvPr/>
        </p:nvGrpSpPr>
        <p:grpSpPr>
          <a:xfrm>
            <a:off x="3" y="2738679"/>
            <a:ext cx="722480" cy="2404814"/>
            <a:chOff x="3" y="2750304"/>
            <a:chExt cx="722480" cy="2404814"/>
          </a:xfrm>
        </p:grpSpPr>
        <p:sp>
          <p:nvSpPr>
            <p:cNvPr id="89" name="Google Shape;89;p87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7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7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7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87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8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">
  <p:cSld name="BLANK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88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97" name="Google Shape;97;p88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88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88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88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88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88"/>
          <p:cNvSpPr/>
          <p:nvPr/>
        </p:nvSpPr>
        <p:spPr>
          <a:xfrm rot="5400000" flipH="1">
            <a:off x="-479615" y="1845054"/>
            <a:ext cx="2455200" cy="1495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8"/>
          <p:cNvSpPr/>
          <p:nvPr/>
        </p:nvSpPr>
        <p:spPr>
          <a:xfrm rot="5400000">
            <a:off x="-262152" y="1526813"/>
            <a:ext cx="1340700" cy="8163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8"/>
          <p:cNvSpPr/>
          <p:nvPr/>
        </p:nvSpPr>
        <p:spPr>
          <a:xfrm rot="-5400000" flipH="1">
            <a:off x="-358955" y="3663589"/>
            <a:ext cx="1838400" cy="1120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8"/>
          <p:cNvSpPr/>
          <p:nvPr/>
        </p:nvSpPr>
        <p:spPr>
          <a:xfrm rot="-5400000">
            <a:off x="-199052" y="1206482"/>
            <a:ext cx="1018800" cy="6207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8"/>
          <p:cNvSpPr/>
          <p:nvPr/>
        </p:nvSpPr>
        <p:spPr>
          <a:xfrm rot="-5400000" flipH="1">
            <a:off x="472234" y="3024661"/>
            <a:ext cx="1272000" cy="7752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8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5"/>
          <p:cNvSpPr txBox="1">
            <a:spLocks noGrp="1"/>
          </p:cNvSpPr>
          <p:nvPr>
            <p:ph type="ctrTitle"/>
          </p:nvPr>
        </p:nvSpPr>
        <p:spPr>
          <a:xfrm>
            <a:off x="2647900" y="1659550"/>
            <a:ext cx="3848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5"/>
          <p:cNvSpPr txBox="1">
            <a:spLocks noGrp="1"/>
          </p:cNvSpPr>
          <p:nvPr>
            <p:ph type="subTitle" idx="1"/>
          </p:nvPr>
        </p:nvSpPr>
        <p:spPr>
          <a:xfrm>
            <a:off x="2647975" y="2763850"/>
            <a:ext cx="3848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85"/>
          <p:cNvSpPr/>
          <p:nvPr/>
        </p:nvSpPr>
        <p:spPr>
          <a:xfrm rot="5400000" flipH="1">
            <a:off x="6177275" y="-42338"/>
            <a:ext cx="3688200" cy="2246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5"/>
          <p:cNvSpPr/>
          <p:nvPr/>
        </p:nvSpPr>
        <p:spPr>
          <a:xfrm rot="5400000" flipH="1">
            <a:off x="-698074" y="3247200"/>
            <a:ext cx="3573900" cy="2177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5"/>
          <p:cNvSpPr/>
          <p:nvPr/>
        </p:nvSpPr>
        <p:spPr>
          <a:xfrm rot="-5400000" flipH="1">
            <a:off x="-428544" y="2831032"/>
            <a:ext cx="2195100" cy="1338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5"/>
          <p:cNvSpPr/>
          <p:nvPr/>
        </p:nvSpPr>
        <p:spPr>
          <a:xfrm rot="-5400000" flipH="1">
            <a:off x="563748" y="2068298"/>
            <a:ext cx="1518900" cy="9255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5"/>
          <p:cNvSpPr/>
          <p:nvPr/>
        </p:nvSpPr>
        <p:spPr>
          <a:xfrm rot="5400000">
            <a:off x="-253698" y="2260564"/>
            <a:ext cx="1297200" cy="789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5"/>
          <p:cNvSpPr/>
          <p:nvPr/>
        </p:nvSpPr>
        <p:spPr>
          <a:xfrm rot="-5400000">
            <a:off x="-192598" y="1950593"/>
            <a:ext cx="985800" cy="600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5"/>
          <p:cNvSpPr/>
          <p:nvPr/>
        </p:nvSpPr>
        <p:spPr>
          <a:xfrm rot="5400000" flipH="1">
            <a:off x="7217675" y="1270025"/>
            <a:ext cx="2394600" cy="1458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5"/>
          <p:cNvSpPr/>
          <p:nvPr/>
        </p:nvSpPr>
        <p:spPr>
          <a:xfrm rot="-5400000">
            <a:off x="7922499" y="2744289"/>
            <a:ext cx="1518600" cy="925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5"/>
          <p:cNvSpPr/>
          <p:nvPr/>
        </p:nvSpPr>
        <p:spPr>
          <a:xfrm rot="-5400000" flipH="1">
            <a:off x="7315902" y="2802275"/>
            <a:ext cx="1027800" cy="6261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5"/>
          <p:cNvSpPr/>
          <p:nvPr/>
        </p:nvSpPr>
        <p:spPr>
          <a:xfrm rot="-5400000" flipH="1">
            <a:off x="6337825" y="578875"/>
            <a:ext cx="1520100" cy="9261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911412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2"/>
          <p:cNvSpPr txBox="1">
            <a:spLocks noGrp="1"/>
          </p:cNvSpPr>
          <p:nvPr>
            <p:ph type="ctrTitle"/>
          </p:nvPr>
        </p:nvSpPr>
        <p:spPr>
          <a:xfrm>
            <a:off x="2328150" y="19918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82"/>
          <p:cNvSpPr/>
          <p:nvPr/>
        </p:nvSpPr>
        <p:spPr>
          <a:xfrm rot="5400000" flipH="1">
            <a:off x="6177275" y="-42338"/>
            <a:ext cx="3688200" cy="2246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2"/>
          <p:cNvSpPr/>
          <p:nvPr/>
        </p:nvSpPr>
        <p:spPr>
          <a:xfrm rot="5400000" flipH="1">
            <a:off x="-698074" y="3247200"/>
            <a:ext cx="3573900" cy="2177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2"/>
          <p:cNvSpPr/>
          <p:nvPr/>
        </p:nvSpPr>
        <p:spPr>
          <a:xfrm rot="-5400000" flipH="1">
            <a:off x="-428544" y="2831032"/>
            <a:ext cx="2195100" cy="1338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2"/>
          <p:cNvSpPr/>
          <p:nvPr/>
        </p:nvSpPr>
        <p:spPr>
          <a:xfrm rot="-5400000" flipH="1">
            <a:off x="563748" y="2068298"/>
            <a:ext cx="1518900" cy="9255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2"/>
          <p:cNvSpPr/>
          <p:nvPr/>
        </p:nvSpPr>
        <p:spPr>
          <a:xfrm rot="5400000">
            <a:off x="-253698" y="2260564"/>
            <a:ext cx="1297200" cy="789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2"/>
          <p:cNvSpPr/>
          <p:nvPr/>
        </p:nvSpPr>
        <p:spPr>
          <a:xfrm rot="-5400000">
            <a:off x="-192598" y="1950593"/>
            <a:ext cx="985800" cy="600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2"/>
          <p:cNvSpPr/>
          <p:nvPr/>
        </p:nvSpPr>
        <p:spPr>
          <a:xfrm rot="5400000" flipH="1">
            <a:off x="7217675" y="1270025"/>
            <a:ext cx="2394600" cy="1458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82"/>
          <p:cNvSpPr/>
          <p:nvPr/>
        </p:nvSpPr>
        <p:spPr>
          <a:xfrm rot="-5400000">
            <a:off x="7922499" y="2744289"/>
            <a:ext cx="1518600" cy="925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82"/>
          <p:cNvSpPr/>
          <p:nvPr/>
        </p:nvSpPr>
        <p:spPr>
          <a:xfrm rot="-5400000" flipH="1">
            <a:off x="7315902" y="2802275"/>
            <a:ext cx="1027800" cy="6261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82"/>
          <p:cNvSpPr/>
          <p:nvPr/>
        </p:nvSpPr>
        <p:spPr>
          <a:xfrm rot="-5400000" flipH="1">
            <a:off x="6337825" y="578875"/>
            <a:ext cx="1520100" cy="9261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9162567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F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1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81"/>
          <p:cNvSpPr txBox="1">
            <a:spLocks noGrp="1"/>
          </p:cNvSpPr>
          <p:nvPr>
            <p:ph type="body" idx="1"/>
          </p:nvPr>
        </p:nvSpPr>
        <p:spPr>
          <a:xfrm>
            <a:off x="1067088" y="1650548"/>
            <a:ext cx="59721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»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" name="Google Shape;8;p81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5" r:id="rId4"/>
    <p:sldLayoutId id="2147483656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ctrTitle" idx="4294967295"/>
          </p:nvPr>
        </p:nvSpPr>
        <p:spPr>
          <a:xfrm>
            <a:off x="122637" y="911428"/>
            <a:ext cx="8727688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</a:t>
            </a:r>
            <a:r>
              <a:rPr lang="vi-VN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LƯƠNG DATA &amp; AI TOÀN CẦU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2020–2023 &amp; 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BÁO </a:t>
            </a:r>
            <a:r>
              <a:rPr lang="vi-VN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sz="3200" dirty="0"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130391" y="2685916"/>
            <a:ext cx="683157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vi-VN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Dự án 1 – DAT111 </a:t>
            </a: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vi-VN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dẫn: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 Huy</a:t>
            </a: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vi-VN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03 </a:t>
            </a:r>
            <a:endParaRPr lang="en-US" sz="2000" b="1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2209FA64-E984-E80B-307A-31E955745F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48215" cy="50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3EE8CDA-9B71-B422-4FF4-623C56C8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>
            <a:extLst>
              <a:ext uri="{FF2B5EF4-FFF2-40B4-BE49-F238E27FC236}">
                <a16:creationId xmlns:a16="http://schemas.microsoft.com/office/drawing/2014/main" id="{6A5D6F23-6F61-7AE2-F649-FCF00D448FF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565321" y="1331127"/>
            <a:ext cx="2390104" cy="103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vi-VN" sz="3200" dirty="0"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1C80A42E-A7CC-4C90-72A2-AC48834C2D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900" y="4812625"/>
            <a:ext cx="587100" cy="28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0510E1F6-F640-5B80-9FD3-AAEA3F447ABE}"/>
              </a:ext>
            </a:extLst>
          </p:cNvPr>
          <p:cNvSpPr txBox="1"/>
          <p:nvPr/>
        </p:nvSpPr>
        <p:spPr>
          <a:xfrm>
            <a:off x="3156677" y="334951"/>
            <a:ext cx="5634300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buClr>
                <a:schemeClr val="tx1"/>
              </a:buClr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Dashboard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buClr>
                <a:schemeClr val="tx1"/>
              </a:buClr>
              <a:buAutoNum type="arabicPeriod" startAt="4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96F82653-9907-681E-7D4F-BDF3264234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" y="0"/>
            <a:ext cx="1130392" cy="4357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54229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ctrTitle" idx="4294967295"/>
          </p:nvPr>
        </p:nvSpPr>
        <p:spPr>
          <a:xfrm>
            <a:off x="2112500" y="-475285"/>
            <a:ext cx="5007125" cy="154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Giới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thiệu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thành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viên</a:t>
            </a:r>
            <a:endParaRPr sz="3200" b="1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t>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174" y="952830"/>
            <a:ext cx="1718875" cy="261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450" y="1181100"/>
            <a:ext cx="1484878" cy="27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4451" y="952830"/>
            <a:ext cx="1484875" cy="2578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4950" y="1181100"/>
            <a:ext cx="1572750" cy="27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6336" y="952830"/>
            <a:ext cx="1572750" cy="257847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62327" y="3532627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Doãn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Thúc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Định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676500" y="4078175"/>
            <a:ext cx="182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 Minh Sang</a:t>
            </a:r>
            <a:endParaRPr sz="160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593139" y="3531301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 Sỹ Toàn</a:t>
            </a:r>
            <a:endParaRPr sz="160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5404938" y="4029650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Diệp Thế Tài</a:t>
            </a:r>
            <a:endParaRPr sz="160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070511" y="3554401"/>
            <a:ext cx="20244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Ngọc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Phương Anh</a:t>
            </a:r>
            <a:endParaRPr sz="1300" dirty="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139E0FAE-7FCA-E949-CBD8-4AF5D6258DA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" y="29390"/>
            <a:ext cx="1250462" cy="52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>
            <a:spLocks noGrp="1"/>
          </p:cNvSpPr>
          <p:nvPr>
            <p:ph type="title"/>
          </p:nvPr>
        </p:nvSpPr>
        <p:spPr>
          <a:xfrm>
            <a:off x="1510972" y="223351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GIỚI THIỆU DỰ ÁN </a:t>
            </a:r>
            <a:endParaRPr sz="3200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"/>
          <p:cNvSpPr txBox="1">
            <a:spLocks noGrp="1"/>
          </p:cNvSpPr>
          <p:nvPr>
            <p:ph type="body" idx="2"/>
          </p:nvPr>
        </p:nvSpPr>
        <p:spPr>
          <a:xfrm>
            <a:off x="734088" y="996624"/>
            <a:ext cx="3257700" cy="407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ĐẦU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3200" dirty="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Đây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dựa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gồm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3.755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file ds_salaries.csv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nhằm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kể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hành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bùng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nổ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Data &amp; AI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Đồng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đưa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lộ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này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giai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đoạn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2025–20261</a:t>
            </a: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3"/>
          <p:cNvSpPr txBox="1">
            <a:spLocks noGrp="1"/>
          </p:cNvSpPr>
          <p:nvPr>
            <p:ph type="body" idx="2"/>
          </p:nvPr>
        </p:nvSpPr>
        <p:spPr>
          <a:xfrm>
            <a:off x="4218040" y="939250"/>
            <a:ext cx="3425634" cy="4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</a:t>
            </a:r>
            <a:r>
              <a:rPr lang="en-US" sz="2400" b="1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tiêu</a:t>
            </a:r>
            <a:r>
              <a:rPr lang="en-US" sz="2400" b="1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2400" b="1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endParaRPr sz="2400" b="1" dirty="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400" b="1" dirty="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Hé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lộ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xu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màu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mè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2020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2023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thấy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rõ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yếu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chốt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đâu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nghề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"hot"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bậc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(Remote/On-site)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quốc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hậu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hĩnh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146" name="Google Shape;146;p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8084B2E5-B356-4CAE-FFB9-CD8C112B7C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389"/>
            <a:ext cx="1227015" cy="455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ctrTitle"/>
          </p:nvPr>
        </p:nvSpPr>
        <p:spPr>
          <a:xfrm>
            <a:off x="2228295" y="1538225"/>
            <a:ext cx="4678532" cy="117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?</a:t>
            </a:r>
            <a:b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chuyện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sz="4800" dirty="0">
              <a:solidFill>
                <a:schemeClr val="accent1"/>
              </a:solidFill>
            </a:endParaRPr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4294967295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2281561" y="268694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dk1"/>
                </a:solidFill>
              </a:rPr>
              <a:t>2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A222B8C9-1A8A-86BB-1E1D-119E8D7480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4;p9">
            <a:extLst>
              <a:ext uri="{FF2B5EF4-FFF2-40B4-BE49-F238E27FC236}">
                <a16:creationId xmlns:a16="http://schemas.microsoft.com/office/drawing/2014/main" id="{15F122F3-3582-9FE6-FCD7-F46932439AF5}"/>
              </a:ext>
            </a:extLst>
          </p:cNvPr>
          <p:cNvSpPr txBox="1">
            <a:spLocks/>
          </p:cNvSpPr>
          <p:nvPr/>
        </p:nvSpPr>
        <p:spPr>
          <a:xfrm>
            <a:off x="1760472" y="2996688"/>
            <a:ext cx="5972100" cy="1448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thích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lang="en-US" sz="4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D08DDD0-65FE-F7E3-3FDA-1E388FD4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611CC7A2-03CE-322F-1B5B-3AC559DF4C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F680802B-510C-E178-A947-4292E13832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8;p8">
            <a:extLst>
              <a:ext uri="{FF2B5EF4-FFF2-40B4-BE49-F238E27FC236}">
                <a16:creationId xmlns:a16="http://schemas.microsoft.com/office/drawing/2014/main" id="{00BF3433-1411-CC91-63D3-40811348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4244" y="101479"/>
            <a:ext cx="6902137" cy="501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2020,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cửa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vẫn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tồn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vỏn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vẹn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76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92.000 USD,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2023,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3.755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149.045 USD —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60%.</a:t>
            </a:r>
          </a:p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solidFill>
                <a:srgbClr val="FFCCE0"/>
              </a:solidFill>
              <a:latin typeface="Times New Roman"/>
              <a:cs typeface="Times New Roman"/>
              <a:sym typeface="Times New Roman"/>
            </a:endParaRPr>
          </a:p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2000" dirty="0"/>
          </a:p>
          <a:p>
            <a:pPr marL="76200" lvl="0" indent="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chuyện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ký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chỗ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kìm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mỏ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kỷ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Remote work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“VUA"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nay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nhường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chỗ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(On-site). Israel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vượt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b="0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3193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>
            <a:spLocks noGrp="1"/>
          </p:cNvSpPr>
          <p:nvPr>
            <p:ph type="body" idx="1"/>
          </p:nvPr>
        </p:nvSpPr>
        <p:spPr>
          <a:xfrm>
            <a:off x="676507" y="156118"/>
            <a:ext cx="7980863" cy="51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ds_salaries.csv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endParaRPr sz="1600" b="1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gốc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gồm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trọng</a:t>
            </a:r>
            <a:endParaRPr lang="en-US" sz="1600" b="1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600" b="1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work_year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(2020-2023).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experience_level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bậc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(EN, MI, SE, EX).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employment_type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tuyển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(Full-time, Part-time...).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job_title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trí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(93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nhau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salary_in_usd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quy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sang USD (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đây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cột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remote_ratio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Tỷ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xa (0, 50, 100).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company_size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Quy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ty (S, M, L).</a:t>
            </a:r>
            <a:endParaRPr sz="2000"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ty,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nơi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trú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/>
          </a:p>
        </p:txBody>
      </p:sp>
      <p:sp>
        <p:nvSpPr>
          <p:cNvPr id="166" name="Google Shape;166;p9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C80DA1F7-C69A-9EA1-05DD-148C5495C0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ctrTitle"/>
          </p:nvPr>
        </p:nvSpPr>
        <p:spPr>
          <a:xfrm>
            <a:off x="2334827" y="2147540"/>
            <a:ext cx="4415378" cy="146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Chuẩn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hóa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dữ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liệu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–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Xử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lý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dữ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liệu</a:t>
            </a:r>
            <a: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  <a:t> </a:t>
            </a:r>
            <a:br>
              <a:rPr lang="en-US" sz="3600" dirty="0">
                <a:solidFill>
                  <a:schemeClr val="accent1"/>
                </a:solidFill>
                <a:latin typeface="Times New Roman"/>
                <a:cs typeface="Times New Roman"/>
                <a:sym typeface="Times New Roman"/>
              </a:rPr>
            </a:br>
            <a:endParaRPr sz="4800" dirty="0">
              <a:solidFill>
                <a:schemeClr val="accent1"/>
              </a:solidFill>
            </a:endParaRPr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4294967295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2281561" y="268694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A222B8C9-1A8A-86BB-1E1D-119E8D7480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08621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051633A-2363-7A3D-F295-186AFDBA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CC057A92-A6BD-C131-E68D-0C39D2295F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A6B700A1-6378-8D11-C1D3-5F4FC31A35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2;p4">
            <a:extLst>
              <a:ext uri="{FF2B5EF4-FFF2-40B4-BE49-F238E27FC236}">
                <a16:creationId xmlns:a16="http://schemas.microsoft.com/office/drawing/2014/main" id="{9CADA863-BDD7-E9F2-F3EF-9FB439BAF1BF}"/>
              </a:ext>
            </a:extLst>
          </p:cNvPr>
          <p:cNvSpPr txBox="1">
            <a:spLocks/>
          </p:cNvSpPr>
          <p:nvPr/>
        </p:nvSpPr>
        <p:spPr>
          <a:xfrm>
            <a:off x="2029522" y="82268"/>
            <a:ext cx="4839629" cy="105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vi-V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service&#10;&#10;AI-generated content may be incorrect.">
            <a:extLst>
              <a:ext uri="{FF2B5EF4-FFF2-40B4-BE49-F238E27FC236}">
                <a16:creationId xmlns:a16="http://schemas.microsoft.com/office/drawing/2014/main" id="{4719466F-019B-D261-49BB-F7939B556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49" y="1137424"/>
            <a:ext cx="6921190" cy="39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14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82D59-CBDD-5FDC-3D63-7DE16ADAD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078" y="906619"/>
            <a:ext cx="2929054" cy="2899663"/>
          </a:xfrm>
        </p:spPr>
        <p:txBody>
          <a:bodyPr/>
          <a:lstStyle/>
          <a:p>
            <a:pPr algn="ctr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ctr">
              <a:buClr>
                <a:schemeClr val="tx1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remove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6200" indent="0" algn="ctr">
              <a:buClr>
                <a:schemeClr val="tx1"/>
              </a:buClr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C9455-F018-8B2B-7D38-CAD35CC98F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22;p1" descr="FPT Polytechnic">
            <a:extLst>
              <a:ext uri="{FF2B5EF4-FFF2-40B4-BE49-F238E27FC236}">
                <a16:creationId xmlns:a16="http://schemas.microsoft.com/office/drawing/2014/main" id="{B7B9FF07-44C4-8FF2-63D3-2DCF39E4EE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783BC4-78E3-953F-874F-E3315AFD5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3132" y="118946"/>
            <a:ext cx="6110869" cy="50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650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1459-EAB5-40A5-09F6-90C05E25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188BE-F0FB-1909-6E89-71D2AA69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29" y="1685586"/>
            <a:ext cx="3965830" cy="775117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measure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77F50-697E-D635-851A-EBBB9BA6D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Google Shape;122;p1" descr="FPT Polytechnic">
            <a:extLst>
              <a:ext uri="{FF2B5EF4-FFF2-40B4-BE49-F238E27FC236}">
                <a16:creationId xmlns:a16="http://schemas.microsoft.com/office/drawing/2014/main" id="{339D4355-14EB-AFE6-C79D-22099BA455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survey&#10;&#10;AI-generated content may be incorrect.">
            <a:extLst>
              <a:ext uri="{FF2B5EF4-FFF2-40B4-BE49-F238E27FC236}">
                <a16:creationId xmlns:a16="http://schemas.microsoft.com/office/drawing/2014/main" id="{0D241DE6-C6CB-8244-56B4-69625F558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41" y="29389"/>
            <a:ext cx="3843454" cy="511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22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FC91-34AC-5654-93A0-44486E7F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351F4-1A33-71A3-6F31-0DB408F32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5" name="Google Shape;122;p1" descr="FPT Polytechnic">
            <a:extLst>
              <a:ext uri="{FF2B5EF4-FFF2-40B4-BE49-F238E27FC236}">
                <a16:creationId xmlns:a16="http://schemas.microsoft.com/office/drawing/2014/main" id="{A0F02F60-7861-5FBA-020D-97E785E178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2972A5-5D9D-C182-56A9-DD6404B4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08" y="1457092"/>
            <a:ext cx="2441830" cy="590875"/>
          </a:xfrm>
        </p:spPr>
        <p:txBody>
          <a:bodyPr/>
          <a:lstStyle/>
          <a:p>
            <a:pPr marL="76200" indent="0" algn="ctr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9ABC77-3ED2-1929-845D-A385606DA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4852" y="1"/>
            <a:ext cx="61554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848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C8985-FA3D-80AB-0274-2D925D8F7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Google Shape;122;p1" descr="FPT Polytechnic">
            <a:extLst>
              <a:ext uri="{FF2B5EF4-FFF2-40B4-BE49-F238E27FC236}">
                <a16:creationId xmlns:a16="http://schemas.microsoft.com/office/drawing/2014/main" id="{3C5BDD43-E330-6CF4-E3AB-EFA0B429C2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1;p13">
            <a:extLst>
              <a:ext uri="{FF2B5EF4-FFF2-40B4-BE49-F238E27FC236}">
                <a16:creationId xmlns:a16="http://schemas.microsoft.com/office/drawing/2014/main" id="{D324AF4F-3D77-C2A3-D6F8-409D4CC165AE}"/>
              </a:ext>
            </a:extLst>
          </p:cNvPr>
          <p:cNvSpPr txBox="1">
            <a:spLocks/>
          </p:cNvSpPr>
          <p:nvPr/>
        </p:nvSpPr>
        <p:spPr>
          <a:xfrm>
            <a:off x="676507" y="862362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Dashboard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cáo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tiết</a:t>
            </a:r>
            <a:endParaRPr lang="en-US" sz="4000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96800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</a:t>
            </a: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b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iết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13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195" name="Google Shape;195;p13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13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198" name="Google Shape;198;p13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13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2111849" y="332459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4C9B6CAF-D201-D97F-3AB6-FE6E88E50C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226894A1-8FFB-7EB1-D4C1-350BBC64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2072"/>
            <a:ext cx="9143875" cy="5101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>
            <a:spLocks noGrp="1"/>
          </p:cNvSpPr>
          <p:nvPr>
            <p:ph type="title"/>
          </p:nvPr>
        </p:nvSpPr>
        <p:spPr>
          <a:xfrm>
            <a:off x="-90481" y="1038459"/>
            <a:ext cx="1956451" cy="190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400" b="1" dirty="0" err="1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4400" b="1" dirty="0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4400" b="1" dirty="0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1" dirty="0" err="1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xét</a:t>
            </a:r>
            <a:endParaRPr sz="4400" dirty="0">
              <a:solidFill>
                <a:srgbClr val="7F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1966391" y="723590"/>
            <a:ext cx="5642398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 → 2021: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nhẹ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(92K → 94K)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2021 → 2022: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(94K → 133K)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giai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đoạn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bùng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nhu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Data/AI.</a:t>
            </a:r>
            <a:endParaRPr sz="2400" b="0" i="0" u="none" strike="noStrike" cap="none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 → 2023: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tục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chậm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(133K → 140K).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➡️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chung</a:t>
            </a:r>
            <a:endParaRPr lang="en-US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Science &amp; AI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rõ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rệt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983FC728-3845-F7F8-8DC3-36B4BD6FFB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/>
      <p:bldP spid="2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>
            <a:spLocks noGrp="1"/>
          </p:cNvSpPr>
          <p:nvPr>
            <p:ph type="title"/>
          </p:nvPr>
        </p:nvSpPr>
        <p:spPr>
          <a:xfrm>
            <a:off x="96644" y="691375"/>
            <a:ext cx="1645344" cy="232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b="1" dirty="0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200" b="1" dirty="0" err="1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Tổng</a:t>
            </a:r>
            <a:r>
              <a:rPr lang="en-US" sz="3200" b="1" dirty="0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br>
              <a:rPr lang="en-US" sz="3200" b="1" dirty="0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3200" b="1" dirty="0" err="1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kết</a:t>
            </a:r>
            <a:r>
              <a:rPr lang="en-US" sz="3200" b="1" dirty="0">
                <a:solidFill>
                  <a:srgbClr val="BF4C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endParaRPr sz="7200" dirty="0">
              <a:solidFill>
                <a:srgbClr val="BF4C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17</a:t>
            </a:fld>
            <a:endParaRPr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2054224" y="309612"/>
            <a:ext cx="568472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Tăng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mạnh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nhất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vào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accent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năm</a:t>
            </a:r>
            <a:r>
              <a:rPr lang="en-US" sz="2400" b="1" i="0" u="none" strike="noStrike" cap="none" dirty="0">
                <a:solidFill>
                  <a:schemeClr val="accent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2022</a:t>
            </a:r>
            <a:endParaRPr sz="2400" b="1" i="0" u="none" strike="noStrike" cap="none" dirty="0">
              <a:solidFill>
                <a:schemeClr val="accent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 err="1">
                <a:solidFill>
                  <a:schemeClr val="accent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Năm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2023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có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mức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lương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nhất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và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chiếm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tỷ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trọng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lớn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nhất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trong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tổng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mức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lương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4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năm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Dashboard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được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thiết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kế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với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các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mục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để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phân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tích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thêm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công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việc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khu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vực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kinh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nghiệm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&amp; remote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Lương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ngành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DS/AI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tăng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đều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trong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giai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đoạn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chemeClr val="accent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2020–2023.</a:t>
            </a:r>
            <a:endParaRPr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9B8A295D-FC3A-A541-6545-F942382199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	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ổng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256" name="Google Shape;256;p2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259" name="Google Shape;259;p20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939328" y="292301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E2D2F642-41D2-5793-EDBD-78B73C9C8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9D193-3BE7-2CB0-CC1A-E98C4FE5D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1B4559-6CE4-2FE5-C085-F6E13DE5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38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986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275303" y="29497"/>
            <a:ext cx="7452852" cy="97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0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570271" y="757084"/>
            <a:ext cx="8573604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2021 → 2022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chiếm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yếu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+ Hybrid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100%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Israel,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Puerto Rico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nơi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YoY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3% →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dần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hòa</a:t>
            </a:r>
            <a:endParaRPr dirty="0"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973F512B-3BC5-DD27-C58A-80C17EE483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31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 dirty="0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 dirty="0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31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355" name="Google Shape;355;p31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31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358" name="Google Shape;358;p31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31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1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  <p:sp>
        <p:nvSpPr>
          <p:cNvPr id="365" name="Google Shape;365;p31"/>
          <p:cNvSpPr txBox="1"/>
          <p:nvPr/>
        </p:nvSpPr>
        <p:spPr>
          <a:xfrm>
            <a:off x="2111849" y="268694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5665F22D-046C-1BCE-013C-C06BC02F9F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32795-0DBA-D25A-6CB1-29498E000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3874" cy="5143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>
            <a:spLocks noGrp="1"/>
          </p:cNvSpPr>
          <p:nvPr>
            <p:ph type="title"/>
          </p:nvPr>
        </p:nvSpPr>
        <p:spPr>
          <a:xfrm>
            <a:off x="2356864" y="29389"/>
            <a:ext cx="3077497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42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42" name="Google Shape;442;p42"/>
          <p:cNvSpPr txBox="1"/>
          <p:nvPr/>
        </p:nvSpPr>
        <p:spPr>
          <a:xfrm>
            <a:off x="1103923" y="699981"/>
            <a:ext cx="7452852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khu vực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Mỹ, Israel, Anh, Đức, Canada dẫn đầu lương cao nhất.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Châu Á: Singapore, Nhật nổi bật.</a:t>
            </a:r>
            <a:endParaRPr sz="1600" b="1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công việc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Lead và Architect là những job top 1 lương.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Scientist thường không cao bằng Data Engineer/Architect</a:t>
            </a:r>
            <a:endParaRPr sz="1600" b="1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quy mô công 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Medium-size trả cao nhất.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công ty trả thấp nhất.</a:t>
            </a:r>
            <a:endParaRPr sz="1600" b="1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mức độ remote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 remote trả cao hơn onsite.</a:t>
            </a:r>
            <a:endParaRPr sz="1600" b="1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kinh nghiệm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 highest &gt; SE &gt; MI &gt; EN.</a:t>
            </a:r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86F93F0E-D7B0-EF49-B8F9-94544C9FA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>
            <a:spLocks noGrp="1"/>
          </p:cNvSpPr>
          <p:nvPr>
            <p:ph type="ctrTitle" idx="4294967295"/>
          </p:nvPr>
        </p:nvSpPr>
        <p:spPr>
          <a:xfrm>
            <a:off x="136074" y="1286854"/>
            <a:ext cx="8593874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43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451" name="Google Shape;451;p43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43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454" name="Google Shape;454;p43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3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3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3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43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 rot="-931596">
            <a:off x="6481106" y="1462098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61" name="Google Shape;461;p43"/>
          <p:cNvSpPr txBox="1"/>
          <p:nvPr/>
        </p:nvSpPr>
        <p:spPr>
          <a:xfrm>
            <a:off x="2068288" y="626233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F812C559-3943-3372-E706-FBA998AAFC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A40902C-D874-A4FA-DC62-B7B48B43E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 txBox="1">
            <a:spLocks noGrp="1"/>
          </p:cNvSpPr>
          <p:nvPr>
            <p:ph type="title"/>
          </p:nvPr>
        </p:nvSpPr>
        <p:spPr>
          <a:xfrm>
            <a:off x="728785" y="29389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5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543" name="Google Shape;543;p55"/>
          <p:cNvSpPr txBox="1"/>
          <p:nvPr/>
        </p:nvSpPr>
        <p:spPr>
          <a:xfrm>
            <a:off x="1047135" y="1140786"/>
            <a:ext cx="704972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US chiếm phần lớn số lượng công việc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Israel là nước trả lương trung bình cao nhất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Lương trung bình toàn cầu khoảng 137K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Lương tăng dần qua các năm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Một số quốc gia thấp hơn mức trung bình khá nhiều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7E1132E4-FD01-9096-2558-3052A68C17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6"/>
          <p:cNvSpPr txBox="1">
            <a:spLocks noGrp="1"/>
          </p:cNvSpPr>
          <p:nvPr>
            <p:ph type="ctrTitle" idx="4294967295"/>
          </p:nvPr>
        </p:nvSpPr>
        <p:spPr>
          <a:xfrm>
            <a:off x="345421" y="1279478"/>
            <a:ext cx="8504904" cy="23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b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400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5400" dirty="0">
                <a:latin typeface="Times New Roman"/>
                <a:ea typeface="Times New Roman"/>
                <a:cs typeface="Times New Roman"/>
                <a:sym typeface="Times New Roman"/>
              </a:rPr>
              <a:t>remote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4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56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56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56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552" name="Google Shape;552;p56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6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56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555" name="Google Shape;555;p56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6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9" name="Google Shape;559;p56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6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562" name="Google Shape;562;p56"/>
          <p:cNvSpPr txBox="1"/>
          <p:nvPr/>
        </p:nvSpPr>
        <p:spPr>
          <a:xfrm>
            <a:off x="2267098" y="528958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6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89C86C1F-5E6E-C3F5-A1A8-37FE9F9A15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B9ED1-174F-8753-1213-8FAA863E1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55511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5"/>
          <p:cNvSpPr txBox="1">
            <a:spLocks noGrp="1"/>
          </p:cNvSpPr>
          <p:nvPr>
            <p:ph type="title"/>
          </p:nvPr>
        </p:nvSpPr>
        <p:spPr>
          <a:xfrm>
            <a:off x="471949" y="167149"/>
            <a:ext cx="7167715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</a:t>
            </a:r>
            <a:r>
              <a:rPr lang="en-US" sz="3600" b="1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sz="333300">
              <a:solidFill>
                <a:srgbClr val="BF00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6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623" name="Google Shape;623;p65"/>
          <p:cNvSpPr txBox="1"/>
          <p:nvPr/>
        </p:nvSpPr>
        <p:spPr>
          <a:xfrm>
            <a:off x="1012723" y="1260071"/>
            <a:ext cx="657778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vị trí cấp thấp đến cao chiếm tỷ lệ remote cao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Entry-level làm remote 🡪 chi phí thấp.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EA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làm remote 🡪 mức tự chủ cao.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EA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mid-level, senior 🡪 tỷ lệ hybrid cao nhất.</a:t>
            </a:r>
            <a:endParaRPr/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A1CD18D8-FA50-BC44-F654-6DEFD8D87F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>
            <a:spLocks noGrp="1"/>
          </p:cNvSpPr>
          <p:nvPr>
            <p:ph type="ctrTitle" idx="4294967295"/>
          </p:nvPr>
        </p:nvSpPr>
        <p:spPr>
          <a:xfrm>
            <a:off x="101419" y="957551"/>
            <a:ext cx="8504904" cy="23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ự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đoán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tang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2024</a:t>
            </a:r>
            <a:endParaRPr sz="40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66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66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66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632" name="Google Shape;632;p66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6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p66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635" name="Google Shape;635;p66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66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6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42" name="Google Shape;642;p66"/>
          <p:cNvSpPr txBox="1"/>
          <p:nvPr/>
        </p:nvSpPr>
        <p:spPr>
          <a:xfrm>
            <a:off x="2129717" y="51085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6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82F39EBC-B6EB-5CA1-8802-F742B3CB8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A4E40-998D-649D-04AE-7777791F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039" y="0"/>
            <a:ext cx="919603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690" name="Google Shape;690;p73"/>
          <p:cNvSpPr txBox="1">
            <a:spLocks noGrp="1"/>
          </p:cNvSpPr>
          <p:nvPr>
            <p:ph type="title"/>
          </p:nvPr>
        </p:nvSpPr>
        <p:spPr>
          <a:xfrm>
            <a:off x="471949" y="167149"/>
            <a:ext cx="7167715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</a:t>
            </a:r>
            <a:r>
              <a:rPr lang="en-US" sz="3600" b="1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sz="333300">
              <a:solidFill>
                <a:srgbClr val="BF00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73"/>
          <p:cNvSpPr txBox="1"/>
          <p:nvPr/>
        </p:nvSpPr>
        <p:spPr>
          <a:xfrm>
            <a:off x="2067951" y="1898282"/>
            <a:ext cx="512767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1FF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Data Leader - Scientist cao cấp có thu nhập vượt trội so với nhóm Analyst và các vai trò kỹ thuật junior.</a:t>
            </a:r>
            <a:endParaRPr sz="2400" b="1" i="0" u="none" strike="noStrike" cap="none">
              <a:solidFill>
                <a:srgbClr val="C1FFA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73"/>
          <p:cNvSpPr/>
          <p:nvPr/>
        </p:nvSpPr>
        <p:spPr>
          <a:xfrm>
            <a:off x="661181" y="2329082"/>
            <a:ext cx="1174653" cy="48533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B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C97661E3-B4A7-D96A-4DCD-73575F9C3F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6"/>
          <p:cNvSpPr txBox="1">
            <a:spLocks noGrp="1"/>
          </p:cNvSpPr>
          <p:nvPr>
            <p:ph type="title"/>
          </p:nvPr>
        </p:nvSpPr>
        <p:spPr>
          <a:xfrm>
            <a:off x="275302" y="29497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7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718" name="Google Shape;718;p76"/>
          <p:cNvSpPr txBox="1"/>
          <p:nvPr/>
        </p:nvSpPr>
        <p:spPr>
          <a:xfrm>
            <a:off x="1017638" y="730758"/>
            <a:ext cx="6872749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On-site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Engineer, Data Analyst, Data Scientist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chiếm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43.75% —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phổ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Đặc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biệt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mốc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Senior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phổ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Entry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Expert.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Bắc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châu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F9BFF1D9-2FED-1A3D-5519-EC991F7E85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7"/>
          <p:cNvSpPr txBox="1">
            <a:spLocks noGrp="1"/>
          </p:cNvSpPr>
          <p:nvPr>
            <p:ph type="title"/>
          </p:nvPr>
        </p:nvSpPr>
        <p:spPr>
          <a:xfrm>
            <a:off x="938979" y="29497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TỔNG KẾT TOÀN PHẦN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7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725" name="Google Shape;725;p77"/>
          <p:cNvSpPr txBox="1"/>
          <p:nvPr/>
        </p:nvSpPr>
        <p:spPr>
          <a:xfrm>
            <a:off x="938980" y="727587"/>
            <a:ext cx="6872749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66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2020–2023</a:t>
            </a:r>
            <a:endParaRPr sz="3200" b="1" i="0" u="none" strike="noStrike" cap="none">
              <a:solidFill>
                <a:srgbClr val="FF66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Lương ngành Data Science &amp; AI tăng mạnh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Tập trung chủ yếu tại Mỹ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nhiều về Senior-level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 lương cao nhất thuộc các vị trí Lead/Architect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remote chiếm gần 44% toàn thị trường.</a:t>
            </a:r>
            <a:endParaRPr sz="18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B2110D4C-9612-2086-3569-E6EEEACD90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8"/>
          <p:cNvSpPr txBox="1">
            <a:spLocks noGrp="1"/>
          </p:cNvSpPr>
          <p:nvPr>
            <p:ph type="title"/>
          </p:nvPr>
        </p:nvSpPr>
        <p:spPr>
          <a:xfrm>
            <a:off x="701420" y="-41301"/>
            <a:ext cx="7197590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nghị</a:t>
            </a:r>
            <a:endParaRPr sz="1777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78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732" name="Google Shape;732;p78"/>
          <p:cNvSpPr txBox="1"/>
          <p:nvPr/>
        </p:nvSpPr>
        <p:spPr>
          <a:xfrm>
            <a:off x="-983" y="1184485"/>
            <a:ext cx="998806" cy="35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luận</a:t>
            </a:r>
            <a:endParaRPr sz="1600" b="0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3" name="Google Shape;733;p78"/>
          <p:cNvCxnSpPr/>
          <p:nvPr/>
        </p:nvCxnSpPr>
        <p:spPr>
          <a:xfrm rot="10800000" flipH="1">
            <a:off x="997823" y="1007239"/>
            <a:ext cx="1386651" cy="35364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4" name="Google Shape;734;p78"/>
          <p:cNvSpPr txBox="1"/>
          <p:nvPr/>
        </p:nvSpPr>
        <p:spPr>
          <a:xfrm>
            <a:off x="1751427" y="914566"/>
            <a:ext cx="5641145" cy="137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vẫn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Chênh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lệch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lợi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cạnh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2024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tục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i="0" u="none" strike="noStrike" cap="none" dirty="0" err="1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kể</a:t>
            </a:r>
            <a:r>
              <a:rPr lang="en-US" sz="1400" b="1" i="0" u="none" strike="noStrike" cap="none" dirty="0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(~166K).</a:t>
            </a:r>
            <a:endParaRPr dirty="0"/>
          </a:p>
        </p:txBody>
      </p:sp>
      <p:cxnSp>
        <p:nvCxnSpPr>
          <p:cNvPr id="735" name="Google Shape;735;p78"/>
          <p:cNvCxnSpPr>
            <a:stCxn id="732" idx="3"/>
          </p:cNvCxnSpPr>
          <p:nvPr/>
        </p:nvCxnSpPr>
        <p:spPr>
          <a:xfrm>
            <a:off x="997823" y="1360880"/>
            <a:ext cx="1330500" cy="1104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6" name="Google Shape;736;p78"/>
          <p:cNvCxnSpPr>
            <a:stCxn id="732" idx="3"/>
          </p:cNvCxnSpPr>
          <p:nvPr/>
        </p:nvCxnSpPr>
        <p:spPr>
          <a:xfrm>
            <a:off x="997823" y="1360880"/>
            <a:ext cx="1105200" cy="4122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7" name="Google Shape;737;p78"/>
          <p:cNvCxnSpPr>
            <a:stCxn id="732" idx="3"/>
          </p:cNvCxnSpPr>
          <p:nvPr/>
        </p:nvCxnSpPr>
        <p:spPr>
          <a:xfrm>
            <a:off x="997823" y="1360879"/>
            <a:ext cx="1105200" cy="7617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8" name="Google Shape;738;p78"/>
          <p:cNvSpPr txBox="1"/>
          <p:nvPr/>
        </p:nvSpPr>
        <p:spPr>
          <a:xfrm>
            <a:off x="797850" y="3573653"/>
            <a:ext cx="1171627" cy="38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 nghị</a:t>
            </a:r>
            <a:endParaRPr sz="1800" b="0" i="0" u="none" strike="noStrike" cap="none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9" name="Google Shape;739;p78"/>
          <p:cNvCxnSpPr/>
          <p:nvPr/>
        </p:nvCxnSpPr>
        <p:spPr>
          <a:xfrm>
            <a:off x="1941341" y="3766334"/>
            <a:ext cx="1012874" cy="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0" name="Google Shape;740;p78"/>
          <p:cNvSpPr txBox="1"/>
          <p:nvPr/>
        </p:nvSpPr>
        <p:spPr>
          <a:xfrm>
            <a:off x="2899704" y="2983306"/>
            <a:ext cx="4589584" cy="176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Doanh nghiệp nên xem xét điều chỉnh quỹ lương, đặc biệt cho nhóm senior và expert để giữ chân nhân tài.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mở rộng tuyển dụng remote để tiếp cận lực lượng nhân sự toàn cầu.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 tư đào tạo để nhân viên junior nâng cấp kỹ năng, hướng đến mid/senior vì biên độ chênh lệch lương lớn.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1" name="Google Shape;741;p78"/>
          <p:cNvCxnSpPr>
            <a:stCxn id="738" idx="3"/>
          </p:cNvCxnSpPr>
          <p:nvPr/>
        </p:nvCxnSpPr>
        <p:spPr>
          <a:xfrm rot="10800000" flipH="1">
            <a:off x="1969477" y="3172334"/>
            <a:ext cx="916200" cy="5940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2" name="Google Shape;742;p78"/>
          <p:cNvCxnSpPr>
            <a:stCxn id="738" idx="3"/>
          </p:cNvCxnSpPr>
          <p:nvPr/>
        </p:nvCxnSpPr>
        <p:spPr>
          <a:xfrm>
            <a:off x="1969477" y="3766334"/>
            <a:ext cx="1047900" cy="6510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130FFB81-3251-717A-CE06-B2AA53C80D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0"/>
          <p:cNvSpPr txBox="1">
            <a:spLocks noGrp="1"/>
          </p:cNvSpPr>
          <p:nvPr>
            <p:ph type="ctrTitle"/>
          </p:nvPr>
        </p:nvSpPr>
        <p:spPr>
          <a:xfrm>
            <a:off x="2328150" y="19918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endParaRPr/>
          </a:p>
        </p:txBody>
      </p:sp>
      <p:sp>
        <p:nvSpPr>
          <p:cNvPr id="754" name="Google Shape;754;p80"/>
          <p:cNvSpPr txBox="1">
            <a:spLocks noGrp="1"/>
          </p:cNvSpPr>
          <p:nvPr>
            <p:ph type="sldNum" idx="4294967295"/>
          </p:nvPr>
        </p:nvSpPr>
        <p:spPr>
          <a:xfrm>
            <a:off x="8556625" y="4813300"/>
            <a:ext cx="5873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755" name="Google Shape;75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967"/>
            <a:ext cx="9144000" cy="5143500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12161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29803"/>
              </a:srgbClr>
            </a:outerShdw>
          </a:effectLst>
        </p:spPr>
      </p:pic>
      <p:sp>
        <p:nvSpPr>
          <p:cNvPr id="756" name="Google Shape;756;p80"/>
          <p:cNvSpPr txBox="1"/>
          <p:nvPr/>
        </p:nvSpPr>
        <p:spPr>
          <a:xfrm rot="-935621">
            <a:off x="39484" y="2277155"/>
            <a:ext cx="471686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sincerely appreciate you taking the time to listen to our presentation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umaine">
  <a:themeElements>
    <a:clrScheme name="Custom 347">
      <a:dk1>
        <a:srgbClr val="FFFFFF"/>
      </a:dk1>
      <a:lt1>
        <a:srgbClr val="041F30"/>
      </a:lt1>
      <a:dk2>
        <a:srgbClr val="E3E7EC"/>
      </a:dk2>
      <a:lt2>
        <a:srgbClr val="5A6B85"/>
      </a:lt2>
      <a:accent1>
        <a:srgbClr val="6699FF"/>
      </a:accent1>
      <a:accent2>
        <a:srgbClr val="33CCFF"/>
      </a:accent2>
      <a:accent3>
        <a:srgbClr val="33CCCC"/>
      </a:accent3>
      <a:accent4>
        <a:srgbClr val="66FF33"/>
      </a:accent4>
      <a:accent5>
        <a:srgbClr val="FF0066"/>
      </a:accent5>
      <a:accent6>
        <a:srgbClr val="FF66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1439</Words>
  <Application>Microsoft Office PowerPoint</Application>
  <PresentationFormat>On-screen Show (16:9)</PresentationFormat>
  <Paragraphs>227</Paragraphs>
  <Slides>36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Hind</vt:lpstr>
      <vt:lpstr>Arial</vt:lpstr>
      <vt:lpstr>Calibri</vt:lpstr>
      <vt:lpstr>Times New Roman</vt:lpstr>
      <vt:lpstr>Noto Sans Symbols</vt:lpstr>
      <vt:lpstr>Wingdings</vt:lpstr>
      <vt:lpstr>Dumaine</vt:lpstr>
      <vt:lpstr>THỰC TRẠNG LƯƠNG DATA &amp; AI TOÀN CẦU 2020–2023 &amp; DỰ BÁO 2024</vt:lpstr>
      <vt:lpstr>Mục lục</vt:lpstr>
      <vt:lpstr>1. Giới thiệu thành viên</vt:lpstr>
      <vt:lpstr>2. GIỚI THIỆU DỰ ÁN </vt:lpstr>
      <vt:lpstr>Đặt vấn đề ? Câu chuyện dữ liệu</vt:lpstr>
      <vt:lpstr>PowerPoint Presentation</vt:lpstr>
      <vt:lpstr>PowerPoint Presentation</vt:lpstr>
      <vt:lpstr>Chuẩn hóa dữ liệu – Xử lý dữ liệu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     Chi tiết</vt:lpstr>
      <vt:lpstr>PowerPoint Presentation</vt:lpstr>
      <vt:lpstr>Nhận  xét</vt:lpstr>
      <vt:lpstr> Tổng  kết </vt:lpstr>
      <vt:lpstr>Dashboard   Tổng quan</vt:lpstr>
      <vt:lpstr>PowerPoint Presentation</vt:lpstr>
      <vt:lpstr> Tổng kết </vt:lpstr>
      <vt:lpstr>Report  Theo công việc</vt:lpstr>
      <vt:lpstr>PowerPoint Presentation</vt:lpstr>
      <vt:lpstr> Tổng kết </vt:lpstr>
      <vt:lpstr>Report  Theo khu vực</vt:lpstr>
      <vt:lpstr>PowerPoint Presentation</vt:lpstr>
      <vt:lpstr> Tổng kết </vt:lpstr>
      <vt:lpstr>Report  Theo kinh nghiệm &amp; remote </vt:lpstr>
      <vt:lpstr>PowerPoint Presentation</vt:lpstr>
      <vt:lpstr>📌 Nhận xét</vt:lpstr>
      <vt:lpstr>Report  Dự đoán tang trưởng lương năm 2024</vt:lpstr>
      <vt:lpstr>PowerPoint Presentation</vt:lpstr>
      <vt:lpstr>📌 Nhận xét</vt:lpstr>
      <vt:lpstr>Tổng kết </vt:lpstr>
      <vt:lpstr>5. TỔNG KẾT TOÀN PHẦN </vt:lpstr>
      <vt:lpstr>6. Kết luận &amp; kiến nghị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Phương Phương</dc:creator>
  <cp:lastModifiedBy>Phương Phương</cp:lastModifiedBy>
  <cp:revision>28</cp:revision>
  <dcterms:created xsi:type="dcterms:W3CDTF">2025-11-28T04:31:05Z</dcterms:created>
  <dcterms:modified xsi:type="dcterms:W3CDTF">2025-12-14T12:41:08Z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CBFFC5710B6B4FDF90ED7B07BF7D7D4A_12</vt:lpwstr>
  </property>
  <property fmtid="{D5CDD505-2E9C-101B-9397-08002B2CF9AE}" pid="3" name="KSOProductBuildVer">
    <vt:lpwstr>1033-12.2.0.22549</vt:lpwstr>
  </property>
</Properties>
</file>